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8f1174b36a419c" /><Relationship Type="http://schemas.openxmlformats.org/officeDocument/2006/relationships/extended-properties" Target="/docProps/app.xml" Id="Rbe9edd06b9394111" /><Relationship Type="http://schemas.openxmlformats.org/officeDocument/2006/relationships/officeDocument" Target="/ppt/presentation.xml" Id="Rfa6cbf36578449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d9fae1adfe4d30"/>
  </p:sldMasterIdLst>
  <p:notesMasterIdLst>
    <p:notesMasterId xmlns:r="http://schemas.openxmlformats.org/officeDocument/2006/relationships" r:id="Rd85fe720f8044a30"/>
  </p:notesMasterIdLst>
  <p:sldIdLst>
    <p:sldId xmlns:r="http://schemas.openxmlformats.org/officeDocument/2006/relationships" id="256" r:id="R232e7b09c4c643d0"/>
    <p:sldId xmlns:r="http://schemas.openxmlformats.org/officeDocument/2006/relationships" id="257" r:id="Rb5b7ff93dc594a23"/>
    <p:sldId xmlns:r="http://schemas.openxmlformats.org/officeDocument/2006/relationships" id="258" r:id="R4ed7157a2ef04eb8"/>
    <p:sldId xmlns:r="http://schemas.openxmlformats.org/officeDocument/2006/relationships" id="259" r:id="R9a3aedf081c84170"/>
    <p:sldId xmlns:r="http://schemas.openxmlformats.org/officeDocument/2006/relationships" id="260" r:id="R25148fc0c75342db"/>
    <p:sldId xmlns:r="http://schemas.openxmlformats.org/officeDocument/2006/relationships" id="261" r:id="R4950919ff78e4ab8"/>
    <p:sldId xmlns:r="http://schemas.openxmlformats.org/officeDocument/2006/relationships" id="262" r:id="R5fb8bc0930334b04"/>
    <p:sldId xmlns:r="http://schemas.openxmlformats.org/officeDocument/2006/relationships" id="263" r:id="R85bf7cb6cfa44414"/>
    <p:sldId xmlns:r="http://schemas.openxmlformats.org/officeDocument/2006/relationships" id="264" r:id="R31b4aa19c3c841ff"/>
    <p:sldId xmlns:r="http://schemas.openxmlformats.org/officeDocument/2006/relationships" id="265" r:id="R394eb6c85af54471"/>
    <p:sldId xmlns:r="http://schemas.openxmlformats.org/officeDocument/2006/relationships" id="266" r:id="R672e5d0461654da0"/>
    <p:sldId xmlns:r="http://schemas.openxmlformats.org/officeDocument/2006/relationships" id="267" r:id="R3f1e9672683e46f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7c6d4e4c8204a4e" /><Relationship Type="http://schemas.openxmlformats.org/officeDocument/2006/relationships/slideMaster" Target="/ppt/slideMasters/slideMaster1.xml" Id="Rd0d9fae1adfe4d30" /><Relationship Type="http://schemas.openxmlformats.org/officeDocument/2006/relationships/notesMaster" Target="/ppt/notesMasters/notesMaster1.xml" Id="Rd85fe720f8044a30" /><Relationship Type="http://schemas.openxmlformats.org/officeDocument/2006/relationships/presProps" Target="/ppt/presProps.xml" Id="Rb72a481f52ee44fb" /><Relationship Type="http://schemas.openxmlformats.org/officeDocument/2006/relationships/tableStyles" Target="/ppt/tableStyles.xml" Id="Rcc5476066b0443d3" /><Relationship Type="http://schemas.openxmlformats.org/officeDocument/2006/relationships/slide" Target="/ppt/slides/slide1.xml" Id="R232e7b09c4c643d0" /><Relationship Type="http://schemas.openxmlformats.org/officeDocument/2006/relationships/slide" Target="/ppt/slides/slide2.xml" Id="Rb5b7ff93dc594a23" /><Relationship Type="http://schemas.openxmlformats.org/officeDocument/2006/relationships/slide" Target="/ppt/slides/slide3.xml" Id="R4ed7157a2ef04eb8" /><Relationship Type="http://schemas.openxmlformats.org/officeDocument/2006/relationships/slide" Target="/ppt/slides/slide4.xml" Id="R9a3aedf081c84170" /><Relationship Type="http://schemas.openxmlformats.org/officeDocument/2006/relationships/slide" Target="/ppt/slides/slide5.xml" Id="R25148fc0c75342db" /><Relationship Type="http://schemas.openxmlformats.org/officeDocument/2006/relationships/slide" Target="/ppt/slides/slide6.xml" Id="R4950919ff78e4ab8" /><Relationship Type="http://schemas.openxmlformats.org/officeDocument/2006/relationships/slide" Target="/ppt/slides/slide7.xml" Id="R5fb8bc0930334b04" /><Relationship Type="http://schemas.openxmlformats.org/officeDocument/2006/relationships/slide" Target="/ppt/slides/slide8.xml" Id="R85bf7cb6cfa44414" /><Relationship Type="http://schemas.openxmlformats.org/officeDocument/2006/relationships/slide" Target="/ppt/slides/slide9.xml" Id="R31b4aa19c3c841ff" /><Relationship Type="http://schemas.openxmlformats.org/officeDocument/2006/relationships/slide" Target="/ppt/slides/slide10.xml" Id="R394eb6c85af54471" /><Relationship Type="http://schemas.openxmlformats.org/officeDocument/2006/relationships/slide" Target="/ppt/slides/slide11.xml" Id="R672e5d0461654da0" /><Relationship Type="http://schemas.openxmlformats.org/officeDocument/2006/relationships/slide" Target="/ppt/slides/slide12.xml" Id="R3f1e9672683e46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c3f8b6ba354f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850bc7054240e8" /><Relationship Type="http://schemas.openxmlformats.org/officeDocument/2006/relationships/notesMaster" Target="/ppt/notesMasters/notesMaster1.xml" Id="R1572d9d0f00240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817479231c400a" /><Relationship Type="http://schemas.openxmlformats.org/officeDocument/2006/relationships/notesMaster" Target="/ppt/notesMasters/notesMaster1.xml" Id="Rf1bebf0a4bd04a2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a2d012437b4f47" /><Relationship Type="http://schemas.openxmlformats.org/officeDocument/2006/relationships/notesMaster" Target="/ppt/notesMasters/notesMaster1.xml" Id="R4e4cd752aa604a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f696ff83df442a" /><Relationship Type="http://schemas.openxmlformats.org/officeDocument/2006/relationships/notesMaster" Target="/ppt/notesMasters/notesMaster1.xml" Id="R8710871eba4f4d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fe39780ad94d77" /><Relationship Type="http://schemas.openxmlformats.org/officeDocument/2006/relationships/notesMaster" Target="/ppt/notesMasters/notesMaster1.xml" Id="Rb938e9468efe4a2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7144a7c55044aca" /><Relationship Type="http://schemas.openxmlformats.org/officeDocument/2006/relationships/notesMaster" Target="/ppt/notesMasters/notesMaster1.xml" Id="R39f97e4b5aa2400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1a5a8486c334278" /><Relationship Type="http://schemas.openxmlformats.org/officeDocument/2006/relationships/notesMaster" Target="/ppt/notesMasters/notesMaster1.xml" Id="R7e7521fb796c4bc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ae10ed666d34c0b" /><Relationship Type="http://schemas.openxmlformats.org/officeDocument/2006/relationships/notesMaster" Target="/ppt/notesMasters/notesMaster1.xml" Id="R9d85e3c3f412457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6d5ea5f64c5462a" /><Relationship Type="http://schemas.openxmlformats.org/officeDocument/2006/relationships/notesMaster" Target="/ppt/notesMasters/notesMaster1.xml" Id="Ra145446391c74d0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b951aa568de4fef" /><Relationship Type="http://schemas.openxmlformats.org/officeDocument/2006/relationships/notesMaster" Target="/ppt/notesMasters/notesMaster1.xml" Id="Rad701858379b442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9a0beb48b054e3c" /><Relationship Type="http://schemas.openxmlformats.org/officeDocument/2006/relationships/notesMaster" Target="/ppt/notesMasters/notesMaster1.xml" Id="R8903f14c8bc14c2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ccc9d00c71f429d" /><Relationship Type="http://schemas.openxmlformats.org/officeDocument/2006/relationships/notesMaster" Target="/ppt/notesMasters/notesMaster1.xml" Id="R4339588f6f1845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Abra com a mudança de categoria: não é apenas uma biblioteca de vídeos; é uma camada de relacionamento operacional.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Brief comercial fornecido por Lucas Paiva nesta conversa.</a:t>
            </a:r>
          </a:p>
          <a:p xmlns:a="http://schemas.openxmlformats.org/drawingml/2006/main">
            <a:r>
              <a:t>- C:/Users/lucas/OneDrive/Documentos/drive-learn-vw/docs/EVOLUCOES_20260728_1900_A_20260729.md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que as dores não são independentes: todas nascem da falta de uma jornada comum entre conteúdo, produto e atendimento.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Brief de dores fornecido por Lucas Paiva.</a:t>
            </a:r>
          </a:p>
          <a:p xmlns:a="http://schemas.openxmlformats.org/drawingml/2006/main">
            <a:r>
              <a:t>- C:/Users/lucas/OneDrive/Documentos/drive-learn-vw/docs/EVOLUCOES_20260728_1900_A_20260729.md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o centro: todos os atores continuam com seus papéis, mas passam a operar sobre o mesmo veículo, o mesmo conteúdo e o mesmo histórico.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Modelo de integração solicitado por Lucas Paiva.</a:t>
            </a:r>
          </a:p>
          <a:p xmlns:a="http://schemas.openxmlformats.org/drawingml/2006/main">
            <a:r>
              <a:t>- C:/Users/lucas/OneDrive/Documentos/drive-learn-vw/app/access_module.php</a:t>
            </a:r>
          </a:p>
          <a:p xmlns:a="http://schemas.openxmlformats.org/drawingml/2006/main">
            <a:r>
              <a:t>- C:/Users/lucas/OneDrive/Documentos/drive-learn-vw/app/service_desk_module.php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mensagem-chave é o ciclo fechado: conteúdo orienta a operação; a operação gera dados; os dados melhoram conteúdo, atendimento e produto.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C:/Users/lucas/OneDrive/Documentos/drive-learn-vw/app/library_module.php</a:t>
            </a:r>
          </a:p>
          <a:p xmlns:a="http://schemas.openxmlformats.org/drawingml/2006/main">
            <a:r>
              <a:t>- C:/Users/lucas/OneDrive/Documentos/drive-learn-vw/app/technical_catalog_module.php</a:t>
            </a:r>
          </a:p>
          <a:p xmlns:a="http://schemas.openxmlformats.org/drawingml/2006/main">
            <a:r>
              <a:t>- C:/Users/lucas/OneDrive/Documentos/drive-learn-vw/app/service_desk_module.php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o produto pela jornada, não pelos módulos administrativos. A governança existe por trás para garantir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C:/Users/lucas/OneDrive/Documentos/drive-learn-vw/views/pages/library.php</a:t>
            </a:r>
          </a:p>
          <a:p xmlns:a="http://schemas.openxmlformats.org/drawingml/2006/main">
            <a:r>
              <a:t>- C:/Users/lucas/OneDrive/Documentos/drive-learn-vw/views/pages/technical-catalog.php</a:t>
            </a:r>
          </a:p>
          <a:p xmlns:a="http://schemas.openxmlformats.org/drawingml/2006/main">
            <a:r>
              <a:t>- C:/Users/lucas/OneDrive/Documentos/drive-learn-vw/views/pages/service-desk.php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Destaque a estratégia de custo: iniciar localmente, reutilizar respostas e acionar IA apenas quando ela agrega valor.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C:/Users/lucas/OneDrive/Documentos/drive-learn-vw/docs/CONFIGURACAO_ASSISTENTE_IA.md</a:t>
            </a:r>
          </a:p>
          <a:p xmlns:a="http://schemas.openxmlformats.org/drawingml/2006/main">
            <a:r>
              <a:t>- C:/Users/lucas/OneDrive/Documentos/drive-learn-vw/app/assistant_module.php</a:t>
            </a:r>
          </a:p>
          <a:p xmlns:a="http://schemas.openxmlformats.org/drawingml/2006/main">
            <a:r>
              <a:t>- C:/Users/lucas/OneDrive/Documentos/drive-learn-vw/database/migrations/20260728_014_assistente_voz_conhecimento.sql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um exemplo realista: excesso de calor no assoalho. O relato recebe veículo, categoria, protocolo, setor e prazo.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C:/Users/lucas/OneDrive/Documentos/drive-learn-vw/app/service_desk_module.php</a:t>
            </a:r>
          </a:p>
          <a:p xmlns:a="http://schemas.openxmlformats.org/drawingml/2006/main">
            <a:r>
              <a:t>- C:/Users/lucas/OneDrive/Documentos/drive-learn-vw/database/migrations/20260729_017_service_desk_relato_setores_sla.sql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que não há um único comprador racional: cada parte enxerga um motivo diferente para aderir, mas a rede amplia o valor.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Proposta de valor derivada do escopo funcional solicitado por Lucas Paiva.</a:t>
            </a:r>
          </a:p>
          <a:p xmlns:a="http://schemas.openxmlformats.org/drawingml/2006/main">
            <a:r>
              <a:t>- C:/Users/lucas/OneDrive/Documentos/drive-learn-vw/docs/EVOLUCOES_20260728_1900_A_20260729.md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esta arquitetura como proposta comercial. A integração técnica e contratual com a RIO deverá ser validada em uma etapa própria.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Hipótese de distribuição via plataforma RIO fornecida por Lucas Paiva.</a:t>
            </a:r>
          </a:p>
          <a:p xmlns:a="http://schemas.openxmlformats.org/drawingml/2006/main">
            <a:r>
              <a:t>- C:/Users/lucas/OneDrive/Documentos/drive-learn-vw/docs/EVOLUCOES_20260728_1900_A_20260729.md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Não apresente preço sem dimensionamento. Posicione a diferença entre planos pela capacidade gerada, não apenas por uma lista de funções.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Estrutura de planos solicitada por Lucas Paiva.</a:t>
            </a:r>
          </a:p>
          <a:p xmlns:a="http://schemas.openxmlformats.org/drawingml/2006/main">
            <a:r>
              <a:t>- C:/Users/lucas/OneDrive/Documentos/drive-learn-vw/app/assistant_settings_module.php</a:t>
            </a:r>
          </a:p>
          <a:p xmlns:a="http://schemas.openxmlformats.org/drawingml/2006/main">
            <a:r>
              <a:t>- C:/Users/lucas/OneDrive/Documentos/drive-learn-vw/database/migrations/20260729_018_taxonomia_relato_limites_assistente.sql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Faça a comparação contra soluções genéricas sem citar concorrentes: o ativo defensável é o contexto conectado e acumulado na própria operação.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C:/Users/lucas/OneDrive/Documentos/drive-learn-vw/docs/EVOLUCOES_20260728_1900_A_20260729.md</a:t>
            </a:r>
          </a:p>
          <a:p xmlns:a="http://schemas.openxmlformats.org/drawingml/2006/main">
            <a:r>
              <a:t>- C:/Users/lucas/OneDrive/Documentos/drive-learn-vw/app/service_desk_module.php</a:t>
            </a:r>
          </a:p>
          <a:p xmlns:a="http://schemas.openxmlformats.org/drawingml/2006/main">
            <a:r>
              <a:t>- C:/Users/lucas/OneDrive/Documentos/drive-learn-vw/app/assistant_module.php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Feche com uma decisão concreta: aprovar o desenho de um piloto com escopo, público e métricas. Evite encerrar apenas com agradecimento.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Recomendação de próximo passo baseada no escopo do pitch solicitado.</a:t>
            </a:r>
          </a:p>
          <a:p xmlns:a="http://schemas.openxmlformats.org/drawingml/2006/main">
            <a:r>
              <a:t>- C:/Users/lucas/OneDrive/Documentos/drive-learn-vw/docs/EVOLUCOES_20260728_1900_A_20260729.md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e47f228bdf4d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5bff37782d243c0" /><Relationship Type="http://schemas.openxmlformats.org/officeDocument/2006/relationships/slideLayout" Target="/ppt/slideLayouts/slideLayout1.xml" Id="R59dc13a2c7d04b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dc13a2c7d04b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84654d4f5f4836" /><Relationship Type="http://schemas.openxmlformats.org/officeDocument/2006/relationships/image" Target="/ppt/media/image.png" Id="R8008ebf74b8740a0" /><Relationship Type="http://schemas.openxmlformats.org/officeDocument/2006/relationships/notesSlide" Target="/ppt/notesSlides/notesSlide1.xml" Id="Rd50efb95a3cc4d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edd076de9e413e" /><Relationship Type="http://schemas.openxmlformats.org/officeDocument/2006/relationships/notesSlide" Target="/ppt/notesSlides/notesSlide2.xml" Id="Re267b8d69e744f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8a8549a3414e8a" /><Relationship Type="http://schemas.openxmlformats.org/officeDocument/2006/relationships/notesSlide" Target="/ppt/notesSlides/notesSlide3.xml" Id="R022da1b3ade74f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558ce1943149bc" /><Relationship Type="http://schemas.openxmlformats.org/officeDocument/2006/relationships/notesSlide" Target="/ppt/notesSlides/notesSlide4.xml" Id="Rc0aa88272cf040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7e21b837e04906" /><Relationship Type="http://schemas.openxmlformats.org/officeDocument/2006/relationships/notesSlide" Target="/ppt/notesSlides/notesSlide5.xml" Id="R646b3ab62c73450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860f902fd149c0" /><Relationship Type="http://schemas.openxmlformats.org/officeDocument/2006/relationships/notesSlide" Target="/ppt/notesSlides/notesSlide6.xml" Id="Rfe17d1c6291243d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3e86bae42349e0" /><Relationship Type="http://schemas.openxmlformats.org/officeDocument/2006/relationships/notesSlide" Target="/ppt/notesSlides/notesSlide7.xml" Id="Rc1f3995e862f46f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65a4b5b4434c49" /><Relationship Type="http://schemas.openxmlformats.org/officeDocument/2006/relationships/notesSlide" Target="/ppt/notesSlides/notesSlide8.xml" Id="R11f2924479ab412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49b54a71c24f14" /><Relationship Type="http://schemas.openxmlformats.org/officeDocument/2006/relationships/notesSlide" Target="/ppt/notesSlides/notesSlide9.xml" Id="R2d2d3e16a7bb458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0be289fdd14cd9" /><Relationship Type="http://schemas.openxmlformats.org/officeDocument/2006/relationships/notesSlide" Target="/ppt/notesSlides/notesSlide10.xml" Id="Rf020b2ca33aa416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50a5eeeaf74ad2" /><Relationship Type="http://schemas.openxmlformats.org/officeDocument/2006/relationships/notesSlide" Target="/ppt/notesSlides/notesSlide11.xml" Id="R617b5b48f79b46d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069fb6be844447" /><Relationship Type="http://schemas.openxmlformats.org/officeDocument/2006/relationships/image" Target="/ppt/media/image2.png" Id="R9e528d64434b4d36" /><Relationship Type="http://schemas.openxmlformats.org/officeDocument/2006/relationships/notesSlide" Target="/ppt/notesSlides/notesSlide12.xml" Id="Rf0eee5919ad9428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1E5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A0809F-62B6-4DB9-9D9D-465F7409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EF44B4-65ED-4798-BC12-D3977228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B0F0"/>
                </a:solidFill>
              </a:defRPr>
            </a:pPr>
            <a:r>
              <a:rPr sz="1200" b="1">
                <a:solidFill>
                  <a:srgbClr val="00B0F0"/>
                </a:solidFill>
              </a:rPr>
              <a:t>DRIVE 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76C36C-036D-4D93-9F86-674475745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56197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Conhecimento que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move a operação.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9F3472-3688-47C5-95C5-5B587170C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5238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8DCEE"/>
                </a:solidFill>
              </a:defRPr>
            </a:pPr>
            <a:r>
              <a:rPr sz="1725" b="0">
                <a:solidFill>
                  <a:srgbClr val="C8DCEE"/>
                </a:solidFill>
              </a:rPr>
              <a:t>Treinamento, inteligência técnica e voz do cliente em uma única jornada digital.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E4861B-78DD-4192-A92C-DADBA562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57725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421988-C0B6-4444-908F-05C9018A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Pitch comercial · Ecossistema VWCO + 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8C00FC-688F-41F2-9F35-8FB27E1F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C8DF"/>
                </a:solidFill>
              </a:defRPr>
            </a:pPr>
            <a:r>
              <a:rPr sz="1125" b="0">
                <a:solidFill>
                  <a:srgbClr val="A9C8DF"/>
                </a:solidFill>
              </a:rPr>
              <a:t>Lucas Paiva · Lux Solution</a:t>
            </a:r>
          </a:p>
        </p:txBody>
      </p:sp>
      <p:sp>
        <p:nvSpPr>
          <p:cNvPr id="8" name="vehicle-stage">
            <a:extLst xmlns:a="http://schemas.openxmlformats.org/drawingml/2006/main">
              <a:ext uri="{FF2B5EF4-FFF2-40B4-BE49-F238E27FC236}">
                <a16:creationId xmlns:a16="http://schemas.microsoft.com/office/drawing/2014/main" id="{6EB587B0-8458-4B90-B1A9-7AC22F45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666750"/>
            <a:ext cx="4762500" cy="52197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08ebf74b8740a0"/>
          <a:stretch xmlns:a="http://schemas.openxmlformats.org/drawingml/2006/main"/>
        </p:blipFill>
        <p:spPr>
          <a:xfrm xmlns:a="http://schemas.openxmlformats.org/drawingml/2006/main">
            <a:off x="6953250" y="1524280"/>
            <a:ext cx="4286250" cy="307601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C04B2B-2044-4937-9252-76B0BD83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05375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1E50"/>
                </a:solidFill>
              </a:defRPr>
            </a:pPr>
            <a:r>
              <a:rPr sz="1800" b="1">
                <a:solidFill>
                  <a:srgbClr val="001E50"/>
                </a:solidFill>
              </a:rPr>
              <a:t>Da dúvida em campo</a:t>
            </a:r>
          </a:p>
          <a:p xmlns:a="http://schemas.openxmlformats.org/drawingml/2006/main">
            <a:pPr algn="ctr">
              <a:defRPr sz="1800" b="1">
                <a:solidFill>
                  <a:srgbClr val="001E50"/>
                </a:solidFill>
              </a:defRPr>
            </a:pPr>
            <a:r>
              <a:rPr sz="1800" b="1">
                <a:solidFill>
                  <a:srgbClr val="001E50"/>
                </a:solidFill>
              </a:rPr>
              <a:t>a uma decisão de produto.</a:t>
            </a:r>
          </a:p>
        </p:txBody>
      </p:sp>
    </p:spTree>
    <p:extLst>
      <p:ext uri="{BB962C8B-B14F-4D97-AF65-F5344CB8AC3E}">
        <p14:creationId xmlns:p14="http://schemas.microsoft.com/office/powerpoint/2010/main" val="20285900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E3C009-D4CD-4DC9-9143-2E4A023D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DB8"/>
                </a:solidFill>
              </a:defRPr>
            </a:pPr>
            <a:r>
              <a:rPr sz="975" b="1">
                <a:solidFill>
                  <a:srgbClr val="007DB8"/>
                </a:solidFill>
              </a:rPr>
              <a:t>O PROBLEMA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A66F86-F365-4D0A-8BBF-FC43B8AE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53C"/>
                </a:solidFill>
              </a:defRPr>
            </a:pPr>
            <a:r>
              <a:rPr sz="2850" b="1">
                <a:solidFill>
                  <a:srgbClr val="17253C"/>
                </a:solidFill>
              </a:rPr>
              <a:t>O conhecimento existe — mas não chega no momento da decisão.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C7FE22-E26F-455F-A11E-25F229C0C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B7C90"/>
                </a:solidFill>
              </a:defRPr>
            </a:pPr>
            <a:r>
              <a:rPr sz="1500" b="0">
                <a:solidFill>
                  <a:srgbClr val="6B7C90"/>
                </a:solidFill>
              </a:rPr>
              <a:t>As dores se acumulam para o cliente e também para a VWCO.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F25211-0374-4104-A4A1-6AF30347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C90"/>
                </a:solidFill>
              </a:defRPr>
            </a:pPr>
            <a:r>
              <a:rPr sz="825" b="1">
                <a:solidFill>
                  <a:srgbClr val="6B7C90"/>
                </a:solidFill>
              </a:rPr>
              <a:t>DRIVE LEARN · CONHECIMENTO QUE MOVE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78663D-4834-4CCC-A2E0-A5075CB7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C90"/>
                </a:solidFill>
              </a:defRPr>
            </a:pPr>
            <a:r>
              <a:rPr sz="900" b="1">
                <a:solidFill>
                  <a:srgbClr val="6B7C90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4EC700-45DC-477E-A0EC-A64DE090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D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33D98D-4300-4031-B1DF-E7DAAD58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D91E95-2D96-4077-B781-343E075C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305050"/>
            <a:ext cx="430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53C"/>
                </a:solidFill>
              </a:defRPr>
            </a:pPr>
            <a:r>
              <a:rPr sz="1650" b="1">
                <a:solidFill>
                  <a:srgbClr val="17253C"/>
                </a:solidFill>
              </a:rPr>
              <a:t>Treinamento disperso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7131BB-DD38-40D6-8D8B-0831BE51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19375"/>
            <a:ext cx="430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C90"/>
                </a:solidFill>
              </a:defRPr>
            </a:pPr>
            <a:r>
              <a:rPr sz="1200" b="0">
                <a:solidFill>
                  <a:srgbClr val="6B7C90"/>
                </a:solidFill>
              </a:rPr>
              <a:t>Conteúdo existe, mas localizar o vídeo certo para o veículo certo ainda exige tempo.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B45131-A531-46FE-AA10-3018A81C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D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86F1FD-3A73-4121-8A2C-6FB80789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8F2BF9-AEA1-4C1B-A693-A0C39867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62350"/>
            <a:ext cx="430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53C"/>
                </a:solidFill>
              </a:defRPr>
            </a:pPr>
            <a:r>
              <a:rPr sz="1650" b="1">
                <a:solidFill>
                  <a:srgbClr val="17253C"/>
                </a:solidFill>
              </a:rPr>
              <a:t>Distância da marca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0F89C6-EC57-44DD-8C1A-FC4225F6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76675"/>
            <a:ext cx="430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C90"/>
                </a:solidFill>
              </a:defRPr>
            </a:pPr>
            <a:r>
              <a:rPr sz="1200" b="0">
                <a:solidFill>
                  <a:srgbClr val="6B7C90"/>
                </a:solidFill>
              </a:rPr>
              <a:t>A experiência real do motorista demora a chegar estruturada à fábrica e ao pós-venda.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C48A28-B3DC-465B-A9FC-6C6D169C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241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D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90C25E-6819-478F-8023-5CDC6FEA5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241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CC470E-0D77-4A78-8BBD-60B5ECB5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05050"/>
            <a:ext cx="430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53C"/>
                </a:solidFill>
              </a:defRPr>
            </a:pPr>
            <a:r>
              <a:rPr sz="1650" b="1">
                <a:solidFill>
                  <a:srgbClr val="17253C"/>
                </a:solidFill>
              </a:rPr>
              <a:t>Consulta técnica lenta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B18528-F8AA-45AD-8809-5302F0B95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619375"/>
            <a:ext cx="430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C90"/>
                </a:solidFill>
              </a:defRPr>
            </a:pPr>
            <a:r>
              <a:rPr sz="1200" b="0">
                <a:solidFill>
                  <a:srgbClr val="6B7C90"/>
                </a:solidFill>
              </a:rPr>
              <a:t>Especificações, funções e comparações ficam espalhadas entre documentos e sistemas.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1F3DD5-2236-407E-B119-520E0751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814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D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4B76ED-2CA4-4694-A7D7-EBA61547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814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E83579-A0F1-46EF-8BF0-060BC5DF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62350"/>
            <a:ext cx="430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53C"/>
                </a:solidFill>
              </a:defRPr>
            </a:pPr>
            <a:r>
              <a:rPr sz="1650" b="1">
                <a:solidFill>
                  <a:srgbClr val="17253C"/>
                </a:solidFill>
              </a:rPr>
              <a:t>Falhas invisíveis em campo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AF2012-9601-4C8B-8F84-524DD9A4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876675"/>
            <a:ext cx="430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C90"/>
                </a:solidFill>
              </a:defRPr>
            </a:pPr>
            <a:r>
              <a:rPr sz="1200" b="0">
                <a:solidFill>
                  <a:srgbClr val="6B7C90"/>
                </a:solidFill>
              </a:rPr>
              <a:t>Sinais recorrentes chegam por canais informais, sem categoria, responsável, SLA ou retorno.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8AA88B-CF2C-4403-9D02-C8E4C969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107442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01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AB0452-8D3A-4028-9A52-056DBD7F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81600"/>
            <a:ext cx="10058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O custo oculto: tempo perdido, baixa adoção do treinamento e menos sinais para melhorar o produto.</a:t>
            </a:r>
          </a:p>
        </p:txBody>
      </p:sp>
    </p:spTree>
    <p:extLst>
      <p:ext uri="{BB962C8B-B14F-4D97-AF65-F5344CB8AC3E}">
        <p14:creationId xmlns:p14="http://schemas.microsoft.com/office/powerpoint/2010/main" val="8682540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E14F9D-5266-4AA2-95D6-2DED5B89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DB8"/>
                </a:solidFill>
              </a:defRPr>
            </a:pPr>
            <a:r>
              <a:rPr sz="975" b="1">
                <a:solidFill>
                  <a:srgbClr val="007DB8"/>
                </a:solidFill>
              </a:rPr>
              <a:t>A OPORTUNIDADE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9E9B41-5300-44AB-9A05-CDB9EC63D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53C"/>
                </a:solidFill>
              </a:defRPr>
            </a:pPr>
            <a:r>
              <a:rPr sz="2850" b="1">
                <a:solidFill>
                  <a:srgbClr val="17253C"/>
                </a:solidFill>
              </a:rPr>
              <a:t>Quatro elos precisam compartilhar o mesmo contexto.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D7034D-762C-4DA9-A0A0-E684A231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B7C90"/>
                </a:solidFill>
              </a:defRPr>
            </a:pPr>
            <a:r>
              <a:rPr sz="1500" b="0">
                <a:solidFill>
                  <a:srgbClr val="6B7C90"/>
                </a:solidFill>
              </a:rPr>
              <a:t>A integração reduz ruído e transforma experiência em aprendizado coletivo.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DE3B05-AFB5-4BFE-82B3-2198FB19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C90"/>
                </a:solidFill>
              </a:defRPr>
            </a:pPr>
            <a:r>
              <a:rPr sz="825" b="1">
                <a:solidFill>
                  <a:srgbClr val="6B7C90"/>
                </a:solidFill>
              </a:rPr>
              <a:t>DRIVE LEARN · CONHECIMENTO QUE MOVE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CA8FFB-BC2E-4334-85E1-2382BA31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C90"/>
                </a:solidFill>
              </a:defRPr>
            </a:pPr>
            <a:r>
              <a:rPr sz="900" b="1">
                <a:solidFill>
                  <a:srgbClr val="6B7C90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91D08D-5360-483A-A2E0-CF7E9483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0" cy="2571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DC7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31CEF0-3BF7-45C4-A5F8-2716EA5C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952875"/>
            <a:ext cx="390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DC7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ACDBF0-A654-4791-BDC4-D29F6C9E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7645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DB8">
              <a:alpha val="36000"/>
            </a:srgbClr>
          </a:solidFill>
          <a:ln xmlns:a="http://schemas.openxmlformats.org/drawingml/2006/main" w="19050">
            <a:solidFill>
              <a:srgbClr val="007D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F16930-3EF7-4E62-B399-A8F26E49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>
              <a:alpha val="34000"/>
            </a:srgbClr>
          </a:solidFill>
          <a:ln xmlns:a="http://schemas.openxmlformats.org/drawingml/2006/main" w="19050">
            <a:solidFill>
              <a:srgbClr val="00B0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87D05F-F567-4B7A-99DF-13F75306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9575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A974">
              <a:alpha val="30000"/>
            </a:srgbClr>
          </a:solidFill>
          <a:ln xmlns:a="http://schemas.openxmlformats.org/drawingml/2006/main" w="19050">
            <a:solidFill>
              <a:srgbClr val="19A97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7A048F-D8BC-4DC7-A926-FFF2A97D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9575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0">
              <a:alpha val="30000"/>
            </a:srgbClr>
          </a:solidFill>
          <a:ln xmlns:a="http://schemas.openxmlformats.org/drawingml/2006/main" w="19050">
            <a:solidFill>
              <a:srgbClr val="003B7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48280A-9891-45B3-8A3F-A43671C1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86125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1E50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0ADD56-0F21-4FB1-A41E-8C0DCC84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743200"/>
            <a:ext cx="158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1E50"/>
                </a:solidFill>
              </a:defRPr>
            </a:pPr>
            <a:r>
              <a:rPr sz="1650" b="1">
                <a:solidFill>
                  <a:srgbClr val="001E50"/>
                </a:solidFill>
              </a:rPr>
              <a:t>CLIENTE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EFC1BC-99B4-407F-A289-102A3E77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43200"/>
            <a:ext cx="158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1E50"/>
                </a:solidFill>
              </a:defRPr>
            </a:pPr>
            <a:r>
              <a:rPr sz="1650" b="1">
                <a:solidFill>
                  <a:srgbClr val="001E50"/>
                </a:solidFill>
              </a:rPr>
              <a:t>FÁBRICA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6A39BF-74C3-4130-B8A8-754A9326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197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1E50"/>
                </a:solidFill>
              </a:defRPr>
            </a:pPr>
            <a:r>
              <a:rPr sz="1350" b="1">
                <a:solidFill>
                  <a:srgbClr val="001E50"/>
                </a:solidFill>
              </a:rPr>
              <a:t>CONCESSIONÁRIA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BB8716-00E5-4466-B8E9-3BA7CBC1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219700"/>
            <a:ext cx="158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1E50"/>
                </a:solidFill>
              </a:defRPr>
            </a:pPr>
            <a:r>
              <a:rPr sz="1500" b="1">
                <a:solidFill>
                  <a:srgbClr val="001E50"/>
                </a:solidFill>
              </a:rPr>
              <a:t>PÓS-VENDA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797010-5B7F-48E6-9CB5-04A46D5BB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781425"/>
            <a:ext cx="1333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DRIVE</a:t>
            </a:r>
          </a:p>
          <a:p xmlns:a="http://schemas.openxmlformats.org/drawingml/2006/main">
            <a:pPr algn="ctr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LEARN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4F85BC-FB9D-423D-810B-CE77CFFC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75297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B0F0"/>
                </a:solidFill>
              </a:defRPr>
            </a:pPr>
            <a:r>
              <a:rPr sz="900" b="1">
                <a:solidFill>
                  <a:srgbClr val="00B0F0"/>
                </a:solidFill>
              </a:rPr>
              <a:t>Conteúdo + dados de campo</a:t>
            </a:r>
          </a:p>
        </p:txBody>
      </p:sp>
    </p:spTree>
    <p:extLst>
      <p:ext uri="{BB962C8B-B14F-4D97-AF65-F5344CB8AC3E}">
        <p14:creationId xmlns:p14="http://schemas.microsoft.com/office/powerpoint/2010/main" val="14179418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1E5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82DA77-1BFE-4147-9112-660CFE39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0F0"/>
                </a:solidFill>
              </a:defRPr>
            </a:pPr>
            <a:r>
              <a:rPr sz="975" b="1">
                <a:solidFill>
                  <a:srgbClr val="00B0F0"/>
                </a:solidFill>
              </a:rPr>
              <a:t>A SOLUÇÃO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CF5951-3255-46B2-B6AD-FD3E4E43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Drive Learn fecha o ciclo entre aprender, operar e melhorar.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E1355E-F45B-46AF-9FDC-87D571E6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8DCEE"/>
                </a:solidFill>
              </a:defRPr>
            </a:pPr>
            <a:r>
              <a:rPr sz="1500" b="0">
                <a:solidFill>
                  <a:srgbClr val="C8DCEE"/>
                </a:solidFill>
              </a:rPr>
              <a:t>Cada interação gera valor imediato e aumenta o conhecimento disponível para a próxima.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56EC1B-3032-43EB-A723-74A572E8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9C8DF"/>
                </a:solidFill>
              </a:defRPr>
            </a:pPr>
            <a:r>
              <a:rPr sz="825" b="1">
                <a:solidFill>
                  <a:srgbClr val="A9C8DF"/>
                </a:solidFill>
              </a:rPr>
              <a:t>DRIVE LEARN · CONHECIMENTO QUE MOVE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513C63-1D0B-4F83-8C58-93740F72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C8DF"/>
                </a:solidFill>
              </a:defRPr>
            </a:pPr>
            <a:r>
              <a:rPr sz="900" b="1">
                <a:solidFill>
                  <a:srgbClr val="A9C8DF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196BEC-8175-4F47-80F5-14D03F75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381375"/>
            <a:ext cx="8763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4DE954-2DBF-476E-984F-15DCB0DD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381375"/>
            <a:ext cx="8763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7261AE-2CD9-420F-83BB-427E6F25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381375"/>
            <a:ext cx="8763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A2E97B-BFAC-453A-B5DD-0395CC70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95575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D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CB631D-C17E-4B12-8429-C86F48EF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95575"/>
            <a:ext cx="990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34675B-EE92-43CF-81A2-CD4A7BAB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CAPACITAR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CE0582-922E-4727-AD5A-3A85EB16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62450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C8DCEE"/>
                </a:solidFill>
              </a:defRPr>
            </a:pPr>
            <a:r>
              <a:rPr sz="1200" b="0">
                <a:solidFill>
                  <a:srgbClr val="C8DCEE"/>
                </a:solidFill>
              </a:rPr>
              <a:t>Treinamentos por marca, família, modelo e função.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C473DB-1A1D-4C34-9A30-92129B4B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95575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D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54EFE0-E0FF-48A7-B1C7-28390D45F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95575"/>
            <a:ext cx="990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EA1C61-1923-45C5-B6E1-15F1AB39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9433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CONSULTAR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B0C245-342D-49BB-9B90-3326C36FD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362450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C8DCEE"/>
                </a:solidFill>
              </a:defRPr>
            </a:pPr>
            <a:r>
              <a:rPr sz="1200" b="0">
                <a:solidFill>
                  <a:srgbClr val="C8DCEE"/>
                </a:solidFill>
              </a:rPr>
              <a:t>Catálogo técnico e respostas rápidas por texto ou voz.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06EB6E-D491-4BF1-AA17-662F30B9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95575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D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1F5F7B-6801-4378-8350-8A50B1AA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95575"/>
            <a:ext cx="990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5542E6-507E-41F3-9D09-78247FA6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433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REPORTAR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AB5183-965E-4A09-BCC8-1657B489B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362450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C8DCEE"/>
                </a:solidFill>
              </a:defRPr>
            </a:pPr>
            <a:r>
              <a:rPr sz="1200" b="0">
                <a:solidFill>
                  <a:srgbClr val="C8DCEE"/>
                </a:solidFill>
              </a:rPr>
              <a:t>Falhas e melhorias registradas no momento em que acontecem.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097740-0C12-4954-ABD7-01669C80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695575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A9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C3D055-CAED-4CA4-AE09-D82803EB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695575"/>
            <a:ext cx="990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5C0934-9B0A-40DF-B525-13294914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9433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EVOLUIR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C6236D-B496-4DE5-8BC3-08ECADC48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362450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C8DCEE"/>
                </a:solidFill>
              </a:defRPr>
            </a:pPr>
            <a:r>
              <a:rPr sz="1200" b="0">
                <a:solidFill>
                  <a:srgbClr val="C8DCEE"/>
                </a:solidFill>
              </a:rPr>
              <a:t>SLA, recorrência, solução e retorno para o cliente.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15B454-9B77-4C5D-9D9F-CA2F9821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388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B0F0"/>
                </a:solidFill>
              </a:defRPr>
            </a:pPr>
            <a:r>
              <a:rPr sz="1800" b="1">
                <a:solidFill>
                  <a:srgbClr val="00B0F0"/>
                </a:solidFill>
              </a:rPr>
              <a:t>O resultado é um ciclo de melhoria contínua — não um repositório estático.</a:t>
            </a:r>
          </a:p>
        </p:txBody>
      </p:sp>
    </p:spTree>
    <p:extLst>
      <p:ext uri="{BB962C8B-B14F-4D97-AF65-F5344CB8AC3E}">
        <p14:creationId xmlns:p14="http://schemas.microsoft.com/office/powerpoint/2010/main" val="16244876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6C8305-0D1F-4985-B9FF-BCF359681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DB8"/>
                </a:solidFill>
              </a:defRPr>
            </a:pPr>
            <a:r>
              <a:rPr sz="975" b="1">
                <a:solidFill>
                  <a:srgbClr val="007DB8"/>
                </a:solidFill>
              </a:rPr>
              <a:t>O PRODUTO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3AC94E-8511-42C1-B90B-8CE9F614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53C"/>
                </a:solidFill>
              </a:defRPr>
            </a:pPr>
            <a:r>
              <a:rPr sz="2850" b="1">
                <a:solidFill>
                  <a:srgbClr val="17253C"/>
                </a:solidFill>
              </a:rPr>
              <a:t>Uma plataforma entrega três experiências conectadas.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6FC534-608C-47A4-8806-3F1C2C91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B7C90"/>
                </a:solidFill>
              </a:defRPr>
            </a:pPr>
            <a:r>
              <a:rPr sz="1500" b="0">
                <a:solidFill>
                  <a:srgbClr val="6B7C90"/>
                </a:solidFill>
              </a:rPr>
              <a:t>O usuário entra por uma necessidade; o Drive Learn combina conteúdo, dados e atendimento.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A1809C-9599-4DE6-9B9F-8B6965D7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C90"/>
                </a:solidFill>
              </a:defRPr>
            </a:pPr>
            <a:r>
              <a:rPr sz="825" b="1">
                <a:solidFill>
                  <a:srgbClr val="6B7C90"/>
                </a:solidFill>
              </a:rPr>
              <a:t>DRIVE LEARN · CONHECIMENTO QUE MOVE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324917-6056-4743-85CE-82649A66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C90"/>
                </a:solidFill>
              </a:defRPr>
            </a:pPr>
            <a:r>
              <a:rPr sz="900" b="1">
                <a:solidFill>
                  <a:srgbClr val="6B7C90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F6B4A0-EB0F-4790-BC03-22DCD0345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343275"/>
            <a:ext cx="826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8E3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06A97F-946E-4D2A-A7AE-3304A8E9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622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D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A137A0-0483-43EB-B289-2AF85396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62250"/>
            <a:ext cx="876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461B5F-E0D4-4079-9EBF-46DF24450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57625"/>
            <a:ext cx="2628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253C"/>
                </a:solidFill>
              </a:defRPr>
            </a:pPr>
            <a:r>
              <a:rPr sz="2025" b="1">
                <a:solidFill>
                  <a:srgbClr val="17253C"/>
                </a:solidFill>
              </a:rPr>
              <a:t>Aprender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6B1DE8-D5B5-41DB-87EB-BA80A0865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62450"/>
            <a:ext cx="26289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B7C90"/>
                </a:solidFill>
              </a:defRPr>
            </a:pPr>
            <a:r>
              <a:rPr sz="1350" b="0">
                <a:solidFill>
                  <a:srgbClr val="6B7C90"/>
                </a:solidFill>
              </a:rPr>
              <a:t>Biblioteca por veículo</a:t>
            </a:r>
          </a:p>
          <a:p xmlns:a="http://schemas.openxmlformats.org/drawingml/2006/main">
            <a:pPr algn="ctr">
              <a:defRPr sz="1350" b="0">
                <a:solidFill>
                  <a:srgbClr val="6B7C90"/>
                </a:solidFill>
              </a:defRPr>
            </a:pPr>
            <a:r>
              <a:rPr sz="1350" b="0">
                <a:solidFill>
                  <a:srgbClr val="6B7C90"/>
                </a:solidFill>
              </a:rPr>
              <a:t>Vídeo no modal</a:t>
            </a:r>
          </a:p>
          <a:p xmlns:a="http://schemas.openxmlformats.org/drawingml/2006/main">
            <a:pPr algn="ctr">
              <a:defRPr sz="1350" b="0">
                <a:solidFill>
                  <a:srgbClr val="6B7C90"/>
                </a:solidFill>
              </a:defRPr>
            </a:pPr>
            <a:r>
              <a:rPr sz="1350" b="0">
                <a:solidFill>
                  <a:srgbClr val="6B7C90"/>
                </a:solidFill>
              </a:rPr>
              <a:t>Histórico e avaliação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FB4BB8-A902-4D73-84CD-B2DD7442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7622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560A48-9CEC-4F6C-BF5D-B178B5F0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762250"/>
            <a:ext cx="876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14C65A-BD70-4F2F-9D7B-A45FFF4E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857625"/>
            <a:ext cx="2628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253C"/>
                </a:solidFill>
              </a:defRPr>
            </a:pPr>
            <a:r>
              <a:rPr sz="2025" b="1">
                <a:solidFill>
                  <a:srgbClr val="17253C"/>
                </a:solidFill>
              </a:rPr>
              <a:t>Entender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B0B582-0A5D-4232-80E3-A1B608724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362450"/>
            <a:ext cx="26289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B7C90"/>
                </a:solidFill>
              </a:defRPr>
            </a:pPr>
            <a:r>
              <a:rPr sz="1350" b="0">
                <a:solidFill>
                  <a:srgbClr val="6B7C90"/>
                </a:solidFill>
              </a:rPr>
              <a:t>Catálogo técnico</a:t>
            </a:r>
          </a:p>
          <a:p xmlns:a="http://schemas.openxmlformats.org/drawingml/2006/main">
            <a:pPr algn="ctr">
              <a:defRPr sz="1350" b="0">
                <a:solidFill>
                  <a:srgbClr val="6B7C90"/>
                </a:solidFill>
              </a:defRPr>
            </a:pPr>
            <a:r>
              <a:rPr sz="1350" b="0">
                <a:solidFill>
                  <a:srgbClr val="6B7C90"/>
                </a:solidFill>
              </a:rPr>
              <a:t>Comparação multimarcas</a:t>
            </a:r>
          </a:p>
          <a:p xmlns:a="http://schemas.openxmlformats.org/drawingml/2006/main">
            <a:pPr algn="ctr">
              <a:defRPr sz="1350" b="0">
                <a:solidFill>
                  <a:srgbClr val="6B7C90"/>
                </a:solidFill>
              </a:defRPr>
            </a:pPr>
            <a:r>
              <a:rPr sz="1350" b="0">
                <a:solidFill>
                  <a:srgbClr val="6B7C90"/>
                </a:solidFill>
              </a:rPr>
              <a:t>Assistente local, híbrido ou 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81936-5203-436B-854E-34CED43D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7622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A9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582B64-BD48-425C-9BDA-1A74239A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762250"/>
            <a:ext cx="876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8D883E-206E-4084-AD57-965A5FE8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857625"/>
            <a:ext cx="2628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253C"/>
                </a:solidFill>
              </a:defRPr>
            </a:pPr>
            <a:r>
              <a:rPr sz="2025" b="1">
                <a:solidFill>
                  <a:srgbClr val="17253C"/>
                </a:solidFill>
              </a:rPr>
              <a:t>Melhorar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C3AF22-2923-45CC-AB6B-8CA7FC03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362450"/>
            <a:ext cx="26289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B7C90"/>
                </a:solidFill>
              </a:defRPr>
            </a:pPr>
            <a:r>
              <a:rPr sz="1350" b="0">
                <a:solidFill>
                  <a:srgbClr val="6B7C90"/>
                </a:solidFill>
              </a:rPr>
              <a:t>Reports em campo</a:t>
            </a:r>
          </a:p>
          <a:p xmlns:a="http://schemas.openxmlformats.org/drawingml/2006/main">
            <a:pPr algn="ctr">
              <a:defRPr sz="1350" b="0">
                <a:solidFill>
                  <a:srgbClr val="6B7C90"/>
                </a:solidFill>
              </a:defRPr>
            </a:pPr>
            <a:r>
              <a:rPr sz="1350" b="0">
                <a:solidFill>
                  <a:srgbClr val="6B7C90"/>
                </a:solidFill>
              </a:rPr>
              <a:t>Triagem e SLA</a:t>
            </a:r>
          </a:p>
          <a:p xmlns:a="http://schemas.openxmlformats.org/drawingml/2006/main">
            <a:pPr algn="ctr">
              <a:defRPr sz="1350" b="0">
                <a:solidFill>
                  <a:srgbClr val="6B7C90"/>
                </a:solidFill>
              </a:defRPr>
            </a:pPr>
            <a:r>
              <a:rPr sz="1350" b="0">
                <a:solidFill>
                  <a:srgbClr val="6B7C90"/>
                </a:solidFill>
              </a:rPr>
              <a:t>Solução e satisfação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D49C9B-E5C1-4ED5-A92B-61279121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38800"/>
            <a:ext cx="10401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273497-1CEF-41DA-8DFA-70142927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705475"/>
            <a:ext cx="994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1E50"/>
                </a:solidFill>
              </a:defRPr>
            </a:pPr>
            <a:r>
              <a:rPr sz="1275" b="1">
                <a:solidFill>
                  <a:srgbClr val="001E50"/>
                </a:solidFill>
              </a:rPr>
              <a:t>Um único login · acesso por perfil · escopo por empresa · experiência responsiva</a:t>
            </a:r>
          </a:p>
        </p:txBody>
      </p:sp>
    </p:spTree>
    <p:extLst>
      <p:ext uri="{BB962C8B-B14F-4D97-AF65-F5344CB8AC3E}">
        <p14:creationId xmlns:p14="http://schemas.microsoft.com/office/powerpoint/2010/main" val="13543246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A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31CAC1-58F8-4F28-B3CC-377D86446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DB8"/>
                </a:solidFill>
              </a:defRPr>
            </a:pPr>
            <a:r>
              <a:rPr sz="975" b="1">
                <a:solidFill>
                  <a:srgbClr val="007DB8"/>
                </a:solidFill>
              </a:rPr>
              <a:t>INTELIGÊNCIA NO FLUXO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E5FB3A-D915-438D-A357-AE68C13C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53C"/>
                </a:solidFill>
              </a:defRPr>
            </a:pPr>
            <a:r>
              <a:rPr sz="2850" b="1">
                <a:solidFill>
                  <a:srgbClr val="17253C"/>
                </a:solidFill>
              </a:rPr>
              <a:t>O motorista pergunta. A plataforma encontra. A organização aprende.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501B3E-9D8A-4E50-A647-FFC84B38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B7C90"/>
                </a:solidFill>
              </a:defRPr>
            </a:pPr>
            <a:r>
              <a:rPr sz="1500" b="0">
                <a:solidFill>
                  <a:srgbClr val="6B7C90"/>
                </a:solidFill>
              </a:rPr>
              <a:t>Texto e voz conectam a dúvida ao veículo, ao treinamento e à ação correta.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E23737-8E2D-4989-BD7E-E53916A1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C90"/>
                </a:solidFill>
              </a:defRPr>
            </a:pPr>
            <a:r>
              <a:rPr sz="825" b="1">
                <a:solidFill>
                  <a:srgbClr val="6B7C90"/>
                </a:solidFill>
              </a:rPr>
              <a:t>DRIVE LEARN · CONHECIMENTO QUE MOVE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5491BF-56FB-49C7-A4B6-F375F71FF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C90"/>
                </a:solidFill>
              </a:defRPr>
            </a:pPr>
            <a:r>
              <a:rPr sz="900" b="1">
                <a:solidFill>
                  <a:srgbClr val="6B7C90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216864-6633-4D62-82EF-489D133A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5623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4C37EA-8EC8-4032-B6D3-7FCE89BA9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28875"/>
            <a:ext cx="3067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1E50"/>
                </a:solidFill>
              </a:defRPr>
            </a:pPr>
            <a:r>
              <a:rPr sz="1650" b="1">
                <a:solidFill>
                  <a:srgbClr val="001E50"/>
                </a:solidFill>
              </a:rPr>
              <a:t>“Estou em um Meteor.</a:t>
            </a:r>
          </a:p>
          <a:p xmlns:a="http://schemas.openxmlformats.org/drawingml/2006/main">
            <a:pPr algn="l">
              <a:defRPr sz="1650" b="1">
                <a:solidFill>
                  <a:srgbClr val="001E50"/>
                </a:solidFill>
              </a:defRPr>
            </a:pPr>
            <a:r>
              <a:rPr sz="1650" b="1">
                <a:solidFill>
                  <a:srgbClr val="001E50"/>
                </a:solidFill>
              </a:rPr>
              <a:t>Como funciona a V Constante?”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6C2A9C-285F-4EF7-9A1B-2DB4F6630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28900"/>
            <a:ext cx="8382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6E08F7-97EA-44D4-AB74-43CEC1FE9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133600"/>
            <a:ext cx="1752600" cy="1752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1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4B7807-19EF-4F08-9EE5-029CB3B4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533650"/>
            <a:ext cx="1257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ASSISTENTE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DRIVE LEARN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8C29F8-D902-4E5D-B052-0E376E93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28900"/>
            <a:ext cx="8382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FD6528-487C-42C3-818C-AC09F925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14550"/>
            <a:ext cx="30289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F6B81D-AC8D-4329-B34D-6A94C352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24100"/>
            <a:ext cx="25336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53C"/>
                </a:solidFill>
              </a:defRPr>
            </a:pPr>
            <a:r>
              <a:rPr sz="1575" b="1">
                <a:solidFill>
                  <a:srgbClr val="17253C"/>
                </a:solidFill>
              </a:rPr>
              <a:t>Resposta rápida</a:t>
            </a:r>
          </a:p>
          <a:p xmlns:a="http://schemas.openxmlformats.org/drawingml/2006/main">
            <a:pPr algn="ctr">
              <a:defRPr sz="1575" b="1">
                <a:solidFill>
                  <a:srgbClr val="17253C"/>
                </a:solidFill>
              </a:defRPr>
            </a:pPr>
            <a:r>
              <a:rPr sz="1575" b="1">
                <a:solidFill>
                  <a:srgbClr val="17253C"/>
                </a:solidFill>
              </a:rPr>
              <a:t>+ vídeo fonte</a:t>
            </a:r>
          </a:p>
          <a:p xmlns:a="http://schemas.openxmlformats.org/drawingml/2006/main">
            <a:pPr algn="ctr">
              <a:defRPr sz="1575" b="1">
                <a:solidFill>
                  <a:srgbClr val="17253C"/>
                </a:solidFill>
              </a:defRPr>
            </a:pPr>
            <a:r>
              <a:rPr sz="1575" b="1">
                <a:solidFill>
                  <a:srgbClr val="17253C"/>
                </a:solidFill>
              </a:rPr>
              <a:t>+ ação no catálogo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48EB27-9BE6-48D3-8BFC-21AEA8438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719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7DB8"/>
                </a:solidFill>
              </a:defRPr>
            </a:pPr>
            <a:r>
              <a:rPr sz="1350" b="1">
                <a:solidFill>
                  <a:srgbClr val="007DB8"/>
                </a:solidFill>
              </a:rPr>
              <a:t>LOCAL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B05567-A51C-4822-A96B-82D0277B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24375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B7C90"/>
                </a:solidFill>
              </a:defRPr>
            </a:pPr>
            <a:r>
              <a:rPr sz="1200" b="0">
                <a:solidFill>
                  <a:srgbClr val="6B7C90"/>
                </a:solidFill>
              </a:rPr>
              <a:t>Começa sem custo de 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720BE4-5F39-4763-A943-0B6CD9D0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1719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7DB8"/>
                </a:solidFill>
              </a:defRPr>
            </a:pPr>
            <a:r>
              <a:rPr sz="1350" b="1">
                <a:solidFill>
                  <a:srgbClr val="007DB8"/>
                </a:solidFill>
              </a:rPr>
              <a:t>HÍBRIDO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4299E2-B58B-4DE1-8844-AEDEDC38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524375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B7C90"/>
                </a:solidFill>
              </a:defRPr>
            </a:pPr>
            <a:r>
              <a:rPr sz="1200" b="0">
                <a:solidFill>
                  <a:srgbClr val="6B7C90"/>
                </a:solidFill>
              </a:rPr>
              <a:t>Escala inteligência quando necessário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167C7D-2437-49F7-BECB-3F635689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719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7DB8"/>
                </a:solidFill>
              </a:defRPr>
            </a:pPr>
            <a:r>
              <a:rPr sz="1350" b="1">
                <a:solidFill>
                  <a:srgbClr val="007DB8"/>
                </a:solidFill>
              </a:rPr>
              <a:t>RASTREÁVEL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C9567D-5FB0-46F1-BCEA-8EAA69B3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24375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B7C90"/>
                </a:solidFill>
              </a:defRPr>
            </a:pPr>
            <a:r>
              <a:rPr sz="1200" b="0">
                <a:solidFill>
                  <a:srgbClr val="6B7C90"/>
                </a:solidFill>
              </a:rPr>
              <a:t>Salva pergunta, resposta e fontes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FC29A1-DC24-49A8-89C3-847444310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816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1E50"/>
                </a:solidFill>
              </a:defRPr>
            </a:pPr>
            <a:r>
              <a:rPr sz="1650" b="1">
                <a:solidFill>
                  <a:srgbClr val="001E50"/>
                </a:solidFill>
              </a:rPr>
              <a:t>A base fica melhor a cada conteúdo transcrito e a cada resposta validada.</a:t>
            </a:r>
          </a:p>
        </p:txBody>
      </p:sp>
    </p:spTree>
    <p:extLst>
      <p:ext uri="{BB962C8B-B14F-4D97-AF65-F5344CB8AC3E}">
        <p14:creationId xmlns:p14="http://schemas.microsoft.com/office/powerpoint/2010/main" val="3305690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5E65E6-76A9-45A6-8EB7-D3755150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DB8"/>
                </a:solidFill>
              </a:defRPr>
            </a:pPr>
            <a:r>
              <a:rPr sz="975" b="1">
                <a:solidFill>
                  <a:srgbClr val="007DB8"/>
                </a:solidFill>
              </a:rPr>
              <a:t>VOZ DO CLIENTE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284426-6688-4E3B-BB22-D1A27D9C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53C"/>
                </a:solidFill>
              </a:defRPr>
            </a:pPr>
            <a:r>
              <a:rPr sz="2850" b="1">
                <a:solidFill>
                  <a:srgbClr val="17253C"/>
                </a:solidFill>
              </a:rPr>
              <a:t>Reports em campo viram melhoria rastreável.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0CCF88-9EF4-47E5-B418-EC2562310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B7C90"/>
                </a:solidFill>
              </a:defRPr>
            </a:pPr>
            <a:r>
              <a:rPr sz="1500" b="0">
                <a:solidFill>
                  <a:srgbClr val="6B7C90"/>
                </a:solidFill>
              </a:rPr>
              <a:t>O sistema estrutura a dor, encaminha a área certa e devolve o resultado ao usuário.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372545-FE85-4FDC-A715-27C13D580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C90"/>
                </a:solidFill>
              </a:defRPr>
            </a:pPr>
            <a:r>
              <a:rPr sz="825" b="1">
                <a:solidFill>
                  <a:srgbClr val="6B7C90"/>
                </a:solidFill>
              </a:rPr>
              <a:t>DRIVE LEARN · CONHECIMENTO QUE MOVE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991C7F-1E07-4BCC-B176-0829ECA77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C90"/>
                </a:solidFill>
              </a:defRPr>
            </a:pPr>
            <a:r>
              <a:rPr sz="900" b="1">
                <a:solidFill>
                  <a:srgbClr val="6B7C90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835EAA-4F41-4595-94BB-AC9199853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81375"/>
            <a:ext cx="5905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06F231-8907-41EB-B39A-6E5631AA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81375"/>
            <a:ext cx="5905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9791EA-98F3-4098-B33D-02DA3D0E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81375"/>
            <a:ext cx="5905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2C73A7-F00C-49FB-8DDD-13E0F518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81375"/>
            <a:ext cx="5905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C06B4F-2CFF-4D1A-86A0-08337122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241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D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D073FF-A406-4CA3-9A84-6544A4534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24150"/>
            <a:ext cx="800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957E45-A146-4EAA-AA9E-978561C1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57625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53C"/>
                </a:solidFill>
              </a:defRPr>
            </a:pPr>
            <a:r>
              <a:rPr sz="1575" b="1">
                <a:solidFill>
                  <a:srgbClr val="17253C"/>
                </a:solidFill>
              </a:rPr>
              <a:t>Relato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B6AF7C-798F-40D2-BAFC-958E843C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67200"/>
            <a:ext cx="1562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B7C90"/>
                </a:solidFill>
              </a:defRPr>
            </a:pPr>
            <a:r>
              <a:rPr sz="1200" b="0">
                <a:solidFill>
                  <a:srgbClr val="6B7C90"/>
                </a:solidFill>
              </a:rPr>
              <a:t>Texto ou voz</a:t>
            </a:r>
          </a:p>
          <a:p xmlns:a="http://schemas.openxmlformats.org/drawingml/2006/main">
            <a:pPr algn="ctr">
              <a:defRPr sz="1200" b="0">
                <a:solidFill>
                  <a:srgbClr val="6B7C90"/>
                </a:solidFill>
              </a:defRPr>
            </a:pPr>
            <a:r>
              <a:rPr sz="1200" b="0">
                <a:solidFill>
                  <a:srgbClr val="6B7C90"/>
                </a:solidFill>
              </a:rPr>
              <a:t>+ veículo exato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92B984-044A-4357-AB6C-3F3A2F8A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7241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147666-83B4-4594-95B4-05546411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724150"/>
            <a:ext cx="800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DA91AC-6C5C-4AEF-BEEA-C59B22D7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57625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53C"/>
                </a:solidFill>
              </a:defRPr>
            </a:pPr>
            <a:r>
              <a:rPr sz="1575" b="1">
                <a:solidFill>
                  <a:srgbClr val="17253C"/>
                </a:solidFill>
              </a:rPr>
              <a:t>Triagem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50A870-982D-403B-87AD-B83CAABAA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267200"/>
            <a:ext cx="1562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B7C90"/>
                </a:solidFill>
              </a:defRPr>
            </a:pPr>
            <a:r>
              <a:rPr sz="1200" b="0">
                <a:solidFill>
                  <a:srgbClr val="6B7C90"/>
                </a:solidFill>
              </a:rPr>
              <a:t>Categoria</a:t>
            </a:r>
          </a:p>
          <a:p xmlns:a="http://schemas.openxmlformats.org/drawingml/2006/main">
            <a:pPr algn="ctr">
              <a:defRPr sz="1200" b="0">
                <a:solidFill>
                  <a:srgbClr val="6B7C90"/>
                </a:solidFill>
              </a:defRPr>
            </a:pPr>
            <a:r>
              <a:rPr sz="1200" b="0">
                <a:solidFill>
                  <a:srgbClr val="6B7C90"/>
                </a:solidFill>
              </a:rPr>
              <a:t>+ criticidade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CD5407-9C6D-445A-8E73-ED9E9B99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241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196C74-D529-4864-9907-1EF794CE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24150"/>
            <a:ext cx="800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F1B9A3-1B4B-41E9-8935-C6494BF6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857625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53C"/>
                </a:solidFill>
              </a:defRPr>
            </a:pPr>
            <a:r>
              <a:rPr sz="1575" b="1">
                <a:solidFill>
                  <a:srgbClr val="17253C"/>
                </a:solidFill>
              </a:rPr>
              <a:t>Tratamento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E9C413-FCDE-4C45-8F7A-B2D608BE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267200"/>
            <a:ext cx="1562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B7C90"/>
                </a:solidFill>
              </a:defRPr>
            </a:pPr>
            <a:r>
              <a:rPr sz="1200" b="0">
                <a:solidFill>
                  <a:srgbClr val="6B7C90"/>
                </a:solidFill>
              </a:rPr>
              <a:t>Setor, responsável</a:t>
            </a:r>
          </a:p>
          <a:p xmlns:a="http://schemas.openxmlformats.org/drawingml/2006/main">
            <a:pPr algn="ctr">
              <a:defRPr sz="1200" b="0">
                <a:solidFill>
                  <a:srgbClr val="6B7C90"/>
                </a:solidFill>
              </a:defRPr>
            </a:pPr>
            <a:r>
              <a:rPr sz="1200" b="0">
                <a:solidFill>
                  <a:srgbClr val="6B7C90"/>
                </a:solidFill>
              </a:rPr>
              <a:t>+ SLA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681DC6-DE5A-4207-A255-5CA981A1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241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A9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4961CF-BE5D-4374-833D-B588434B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24150"/>
            <a:ext cx="800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6EB824-0F3C-484D-B8FF-170E6853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857625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53C"/>
                </a:solidFill>
              </a:defRPr>
            </a:pPr>
            <a:r>
              <a:rPr sz="1575" b="1">
                <a:solidFill>
                  <a:srgbClr val="17253C"/>
                </a:solidFill>
              </a:rPr>
              <a:t>Solução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750C26-C1C8-4012-AD84-C4EF0859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267200"/>
            <a:ext cx="1562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B7C90"/>
                </a:solidFill>
              </a:defRPr>
            </a:pPr>
            <a:r>
              <a:rPr sz="1200" b="0">
                <a:solidFill>
                  <a:srgbClr val="6B7C90"/>
                </a:solidFill>
              </a:rPr>
              <a:t>Ação tomada</a:t>
            </a:r>
          </a:p>
          <a:p xmlns:a="http://schemas.openxmlformats.org/drawingml/2006/main">
            <a:pPr algn="ctr">
              <a:defRPr sz="1200" b="0">
                <a:solidFill>
                  <a:srgbClr val="6B7C90"/>
                </a:solidFill>
              </a:defRPr>
            </a:pPr>
            <a:r>
              <a:rPr sz="1200" b="0">
                <a:solidFill>
                  <a:srgbClr val="6B7C90"/>
                </a:solidFill>
              </a:rPr>
              <a:t>+ histórico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68840C-7E5D-4573-A0AE-6614AF6F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7241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1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895F88-604A-4F8B-9196-1F393E03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724150"/>
            <a:ext cx="800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3841FB-7243-491E-851D-0D1130B6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857625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53C"/>
                </a:solidFill>
              </a:defRPr>
            </a:pPr>
            <a:r>
              <a:rPr sz="1575" b="1">
                <a:solidFill>
                  <a:srgbClr val="17253C"/>
                </a:solidFill>
              </a:rPr>
              <a:t>Retorno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9E7610-EE35-44E9-A97C-FB82652BC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267200"/>
            <a:ext cx="1562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B7C90"/>
                </a:solidFill>
              </a:defRPr>
            </a:pPr>
            <a:r>
              <a:rPr sz="1200" b="0">
                <a:solidFill>
                  <a:srgbClr val="6B7C90"/>
                </a:solidFill>
              </a:rPr>
              <a:t>Notificação</a:t>
            </a:r>
          </a:p>
          <a:p xmlns:a="http://schemas.openxmlformats.org/drawingml/2006/main">
            <a:pPr algn="ctr">
              <a:defRPr sz="1200" b="0">
                <a:solidFill>
                  <a:srgbClr val="6B7C90"/>
                </a:solidFill>
              </a:defRPr>
            </a:pPr>
            <a:r>
              <a:rPr sz="1200" b="0">
                <a:solidFill>
                  <a:srgbClr val="6B7C90"/>
                </a:solidFill>
              </a:rPr>
              <a:t>+ satisfação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1ABB4D-5DBB-485C-8E1C-6B063EE89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14950"/>
            <a:ext cx="9144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01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541957-3083-4172-9BAF-915CE24B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292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Recorrência deixa de ser percepção e passa a ser evidência para produto, qualidade e pós-venda.</a:t>
            </a:r>
          </a:p>
        </p:txBody>
      </p:sp>
    </p:spTree>
    <p:extLst>
      <p:ext uri="{BB962C8B-B14F-4D97-AF65-F5344CB8AC3E}">
        <p14:creationId xmlns:p14="http://schemas.microsoft.com/office/powerpoint/2010/main" val="5876561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01E5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0BCCD4-86B8-4D71-B800-9FC15FBF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0F0"/>
                </a:solidFill>
              </a:defRPr>
            </a:pPr>
            <a:r>
              <a:rPr sz="975" b="1">
                <a:solidFill>
                  <a:srgbClr val="00B0F0"/>
                </a:solidFill>
              </a:rPr>
              <a:t>VALOR COMPARTILHADO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A1952D-5FC0-487E-B308-A1FB1332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Cada elo recebe um benefício próprio — todos alimentam o mesmo ciclo.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A203E6-0769-43CA-8E12-6FBB9655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8DCEE"/>
                </a:solidFill>
              </a:defRPr>
            </a:pPr>
            <a:r>
              <a:rPr sz="1500" b="0">
                <a:solidFill>
                  <a:srgbClr val="C8DCEE"/>
                </a:solidFill>
              </a:rPr>
              <a:t>É isso que sustenta adoção e recorrência.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9DFD21-F4FD-4A37-8F1B-5755DF51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9C8DF"/>
                </a:solidFill>
              </a:defRPr>
            </a:pPr>
            <a:r>
              <a:rPr sz="825" b="1">
                <a:solidFill>
                  <a:srgbClr val="A9C8DF"/>
                </a:solidFill>
              </a:rPr>
              <a:t>DRIVE LEARN · CONHECIMENTO QUE MOVE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C08F36-BC44-4A3B-AC58-CBF4DFB4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C8DF"/>
                </a:solidFill>
              </a:defRPr>
            </a:pPr>
            <a:r>
              <a:rPr sz="900" b="1">
                <a:solidFill>
                  <a:srgbClr val="A9C8DF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A9DEC2-F820-428E-8621-51090305F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098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28575">
            <a:solidFill>
              <a:srgbClr val="00B0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DA4C2A-9006-4588-81E5-C6D0D9D4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828925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793C3E-BD72-4421-9F0A-262C56E9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3209925"/>
            <a:ext cx="100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1E50"/>
                </a:solidFill>
              </a:defRPr>
            </a:pPr>
            <a:r>
              <a:rPr sz="1725" b="1">
                <a:solidFill>
                  <a:srgbClr val="001E50"/>
                </a:solidFill>
              </a:rPr>
              <a:t>VALOR</a:t>
            </a:r>
          </a:p>
          <a:p xmlns:a="http://schemas.openxmlformats.org/drawingml/2006/main">
            <a:pPr algn="ctr">
              <a:defRPr sz="1725" b="1">
                <a:solidFill>
                  <a:srgbClr val="001E50"/>
                </a:solidFill>
              </a:defRPr>
            </a:pPr>
            <a:r>
              <a:rPr sz="1725" b="1">
                <a:solidFill>
                  <a:srgbClr val="001E50"/>
                </a:solidFill>
              </a:rPr>
              <a:t>EM REDE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9E404A-7E14-41EB-9048-920E17BA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B0F0"/>
                </a:solidFill>
              </a:defRPr>
            </a:pPr>
            <a:r>
              <a:rPr sz="1575" b="1">
                <a:solidFill>
                  <a:srgbClr val="00B0F0"/>
                </a:solidFill>
              </a:rPr>
              <a:t>CLIENTE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1EB42C-A342-43EA-BE50-0D4E1F87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DCEE"/>
                </a:solidFill>
              </a:defRPr>
            </a:pPr>
            <a:r>
              <a:rPr sz="1350" b="0">
                <a:solidFill>
                  <a:srgbClr val="C8DCEE"/>
                </a:solidFill>
              </a:rPr>
              <a:t>Aprende mais rápido, reduz incerteza e acompanha o retorno dos relatos.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3FB372-2BFC-4EDC-A368-F82CFB22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266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00B0F0"/>
                </a:solidFill>
              </a:defRPr>
            </a:pPr>
            <a:r>
              <a:rPr sz="1575" b="1">
                <a:solidFill>
                  <a:srgbClr val="00B0F0"/>
                </a:solidFill>
              </a:rPr>
              <a:t>FÁBRICA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4E3EDE-9940-417A-AAE8-38EAFEB8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4795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C8DCEE"/>
                </a:solidFill>
              </a:defRPr>
            </a:pPr>
            <a:r>
              <a:rPr sz="1350" b="0">
                <a:solidFill>
                  <a:srgbClr val="C8DCEE"/>
                </a:solidFill>
              </a:rPr>
              <a:t>Recebe sinais estruturados de campo e prioriza melhorias com evidência.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647C95-6A03-46B0-996F-FCE30C06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863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B0F0"/>
                </a:solidFill>
              </a:defRPr>
            </a:pPr>
            <a:r>
              <a:rPr sz="1575" b="1">
                <a:solidFill>
                  <a:srgbClr val="00B0F0"/>
                </a:solidFill>
              </a:rPr>
              <a:t>CONCESSIONÁRIA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4C1342-285F-476E-B02D-8E72BFDA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6730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DCEE"/>
                </a:solidFill>
              </a:defRPr>
            </a:pPr>
            <a:r>
              <a:rPr sz="1350" b="0">
                <a:solidFill>
                  <a:srgbClr val="C8DCEE"/>
                </a:solidFill>
              </a:rPr>
              <a:t>Aprofunda o relacionamento e orienta o cliente com conteúdo oficial.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77E61F-27C9-48CA-AAC5-7CADAD41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6863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00B0F0"/>
                </a:solidFill>
              </a:defRPr>
            </a:pPr>
            <a:r>
              <a:rPr sz="1575" b="1">
                <a:solidFill>
                  <a:srgbClr val="00B0F0"/>
                </a:solidFill>
              </a:rPr>
              <a:t>PÓS-VENDA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83AD16-CF5E-456C-B049-787EF258E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6730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C8DCEE"/>
                </a:solidFill>
              </a:defRPr>
            </a:pPr>
            <a:r>
              <a:rPr sz="1350" b="0">
                <a:solidFill>
                  <a:srgbClr val="C8DCEE"/>
                </a:solidFill>
              </a:rPr>
              <a:t>Ganha contexto antes do atendimento e rastreia solução, prazo e satisfação.</a:t>
            </a:r>
          </a:p>
        </p:txBody>
      </p:sp>
    </p:spTree>
    <p:extLst>
      <p:ext uri="{BB962C8B-B14F-4D97-AF65-F5344CB8AC3E}">
        <p14:creationId xmlns:p14="http://schemas.microsoft.com/office/powerpoint/2010/main" val="3129454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9CB215-CB0E-4B8F-A3B8-186D8727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DB8"/>
                </a:solidFill>
              </a:defRPr>
            </a:pPr>
            <a:r>
              <a:rPr sz="975" b="1">
                <a:solidFill>
                  <a:srgbClr val="007DB8"/>
                </a:solidFill>
              </a:rPr>
              <a:t>MODELO COMERCIAL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D8AEBF-7011-44A1-ABC6-9965BA60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53C"/>
                </a:solidFill>
              </a:defRPr>
            </a:pPr>
            <a:r>
              <a:rPr sz="2850" b="1">
                <a:solidFill>
                  <a:srgbClr val="17253C"/>
                </a:solidFill>
              </a:rPr>
              <a:t>Distribuição via RIO transforma software em serviço recorrente.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3D6038-4C1F-422F-A5D5-3ADF8AFD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B7C90"/>
                </a:solidFill>
              </a:defRPr>
            </a:pPr>
            <a:r>
              <a:rPr sz="1500" b="0">
                <a:solidFill>
                  <a:srgbClr val="6B7C90"/>
                </a:solidFill>
              </a:rPr>
              <a:t>O Drive Learn pode ser oferecido como uma camada de conhecimento e relacionamento.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398E1F-065C-4A33-B0A1-A05198D05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C90"/>
                </a:solidFill>
              </a:defRPr>
            </a:pPr>
            <a:r>
              <a:rPr sz="825" b="1">
                <a:solidFill>
                  <a:srgbClr val="6B7C90"/>
                </a:solidFill>
              </a:rPr>
              <a:t>DRIVE LEARN · CONHECIMENTO QUE MOVE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56148C-6B2E-41A8-900F-1B6A959F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C90"/>
                </a:solidFill>
              </a:defRPr>
            </a:pPr>
            <a:r>
              <a:rPr sz="900" b="1">
                <a:solidFill>
                  <a:srgbClr val="6B7C90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372399-8B23-4B2A-827B-6658FA262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19450"/>
            <a:ext cx="8953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F63965-1F61-41FD-A2EC-DCCC6A442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19450"/>
            <a:ext cx="8953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6FAFC8-0765-413D-B531-4B67A85D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1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009486-9AC6-4806-B92C-93D4AAE6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57500"/>
            <a:ext cx="190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PLATAFORMA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RIO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A0A0BA-64F5-4C1D-9112-0DB43C5E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133600"/>
            <a:ext cx="266700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481443-8EDE-4220-9309-3374D421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7650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7DB8"/>
                </a:solidFill>
              </a:defRPr>
            </a:pPr>
            <a:r>
              <a:rPr sz="1800" b="1">
                <a:solidFill>
                  <a:srgbClr val="007DB8"/>
                </a:solidFill>
              </a:rPr>
              <a:t>DRIVE LEARN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9B30C4-910C-4906-A715-9F7FECCF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90850"/>
            <a:ext cx="16383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53C"/>
                </a:solidFill>
              </a:defRPr>
            </a:pPr>
            <a:r>
              <a:rPr sz="1500" b="1">
                <a:solidFill>
                  <a:srgbClr val="17253C"/>
                </a:solidFill>
              </a:rPr>
              <a:t>Conteúdo</a:t>
            </a:r>
          </a:p>
          <a:p xmlns:a="http://schemas.openxmlformats.org/drawingml/2006/main">
            <a:pPr algn="ctr">
              <a:defRPr sz="1500" b="1">
                <a:solidFill>
                  <a:srgbClr val="17253C"/>
                </a:solidFill>
              </a:defRPr>
            </a:pPr>
            <a:r>
              <a:rPr sz="1500" b="1">
                <a:solidFill>
                  <a:srgbClr val="17253C"/>
                </a:solidFill>
              </a:rPr>
              <a:t>Catálogo</a:t>
            </a:r>
          </a:p>
          <a:p xmlns:a="http://schemas.openxmlformats.org/drawingml/2006/main">
            <a:pPr algn="ctr">
              <a:defRPr sz="1500" b="1">
                <a:solidFill>
                  <a:srgbClr val="17253C"/>
                </a:solidFill>
              </a:defRPr>
            </a:pPr>
            <a:r>
              <a:rPr sz="1500" b="1">
                <a:solidFill>
                  <a:srgbClr val="17253C"/>
                </a:solidFill>
              </a:rPr>
              <a:t>Assistente</a:t>
            </a:r>
          </a:p>
          <a:p xmlns:a="http://schemas.openxmlformats.org/drawingml/2006/main">
            <a:pPr algn="ctr">
              <a:defRPr sz="1500" b="1">
                <a:solidFill>
                  <a:srgbClr val="17253C"/>
                </a:solidFill>
              </a:defRPr>
            </a:pPr>
            <a:r>
              <a:rPr sz="1500" b="1">
                <a:solidFill>
                  <a:srgbClr val="17253C"/>
                </a:solidFill>
              </a:rPr>
              <a:t>Service Desk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58D6CE-5411-4CC8-A211-D43C42E5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30505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A9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0412A9-55EF-4498-9F57-31584AABB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857500"/>
            <a:ext cx="1809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CLIENTE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CONECTADO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9DA5AE-1B51-48AE-9271-CCA06800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812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DB8"/>
                </a:solidFill>
              </a:defRPr>
            </a:pPr>
            <a:r>
              <a:rPr sz="1275" b="1">
                <a:solidFill>
                  <a:srgbClr val="007DB8"/>
                </a:solidFill>
              </a:rPr>
              <a:t>Aquisição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AD6662-6007-4762-B1CE-0870F4CD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860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C90"/>
                </a:solidFill>
              </a:defRPr>
            </a:pPr>
            <a:r>
              <a:rPr sz="1125" b="0">
                <a:solidFill>
                  <a:srgbClr val="6B7C90"/>
                </a:solidFill>
              </a:rPr>
              <a:t>Atrelada ao ecossistema digital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B8ADE5-A5D1-4763-80A5-65395620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766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DB8"/>
                </a:solidFill>
              </a:defRPr>
            </a:pPr>
            <a:r>
              <a:rPr sz="1275" b="1">
                <a:solidFill>
                  <a:srgbClr val="007DB8"/>
                </a:solidFill>
              </a:rPr>
              <a:t>Receita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8B6215-7519-4409-BA18-C2CEEFEE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81425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C90"/>
                </a:solidFill>
              </a:defRPr>
            </a:pPr>
            <a:r>
              <a:rPr sz="1125" b="0">
                <a:solidFill>
                  <a:srgbClr val="6B7C90"/>
                </a:solidFill>
              </a:rPr>
              <a:t>Assinatura por empresa, plano ou frota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FD4977-9A20-4659-8298-B58B7A414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72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DB8"/>
                </a:solidFill>
              </a:defRPr>
            </a:pPr>
            <a:r>
              <a:rPr sz="1275" b="1">
                <a:solidFill>
                  <a:srgbClr val="007DB8"/>
                </a:solidFill>
              </a:rPr>
              <a:t>Expansão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66F3DF-2585-414F-85F8-A486F817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87680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C90"/>
                </a:solidFill>
              </a:defRPr>
            </a:pPr>
            <a:r>
              <a:rPr sz="1125" b="0">
                <a:solidFill>
                  <a:srgbClr val="6B7C90"/>
                </a:solidFill>
              </a:rPr>
              <a:t>Mais conteúdo, IA, analytics e integrações</a:t>
            </a:r>
          </a:p>
        </p:txBody>
      </p:sp>
    </p:spTree>
    <p:extLst>
      <p:ext uri="{BB962C8B-B14F-4D97-AF65-F5344CB8AC3E}">
        <p14:creationId xmlns:p14="http://schemas.microsoft.com/office/powerpoint/2010/main" val="2347994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7EA5C04-B550-4DAF-82FD-DAF5B5017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DB8"/>
                </a:solidFill>
              </a:defRPr>
            </a:pPr>
            <a:r>
              <a:rPr sz="975" b="1">
                <a:solidFill>
                  <a:srgbClr val="007DB8"/>
                </a:solidFill>
              </a:rPr>
              <a:t>EMPACOTAMENTO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74F8D7-EE64-4149-A6ED-60141B00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53C"/>
                </a:solidFill>
              </a:defRPr>
            </a:pPr>
            <a:r>
              <a:rPr sz="2850" b="1">
                <a:solidFill>
                  <a:srgbClr val="17253C"/>
                </a:solidFill>
              </a:rPr>
              <a:t>Três planos permitem começar simples e ampliar valor.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8E52CC-EE51-4FEB-A2DC-06962C17E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B7C90"/>
                </a:solidFill>
              </a:defRPr>
            </a:pPr>
            <a:r>
              <a:rPr sz="1500" b="0">
                <a:solidFill>
                  <a:srgbClr val="6B7C90"/>
                </a:solidFill>
              </a:rPr>
              <a:t>A monetização acompanha maturidade, volume de uso e profundidade da integração.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E7F746-A3AF-4186-B5F3-1E3C7B1C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C90"/>
                </a:solidFill>
              </a:defRPr>
            </a:pPr>
            <a:r>
              <a:rPr sz="825" b="1">
                <a:solidFill>
                  <a:srgbClr val="6B7C90"/>
                </a:solidFill>
              </a:rPr>
              <a:t>DRIVE LEARN · CONHECIMENTO QUE MOVE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C44476-36D5-487E-839B-464648E6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C90"/>
                </a:solidFill>
              </a:defRPr>
            </a:pPr>
            <a:r>
              <a:rPr sz="900" b="1">
                <a:solidFill>
                  <a:srgbClr val="6B7C90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F193DF-CD82-4D4A-9BBF-61F928A5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3429000" cy="35433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42D34F-CEA9-405B-A9CF-B21269C7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1E50"/>
                </a:solidFill>
              </a:defRPr>
            </a:pPr>
            <a:r>
              <a:rPr sz="2025" b="1">
                <a:solidFill>
                  <a:srgbClr val="001E50"/>
                </a:solidFill>
              </a:rPr>
              <a:t>BÁSICO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1156D8-58A7-4117-905B-3EE2C012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289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DB8"/>
                </a:solidFill>
              </a:defRPr>
            </a:pPr>
            <a:r>
              <a:rPr sz="1275" b="1">
                <a:solidFill>
                  <a:srgbClr val="007DB8"/>
                </a:solidFill>
              </a:rPr>
              <a:t>Capacitar e consultar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E40DF1-5E8E-489D-8DED-E05570954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2895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D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060340-C6EB-4128-ADAB-6D157FBF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433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D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E03EBD-17D0-4E7B-8DD3-BB541FD5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542FA5-FA5A-474E-83E8-FA8C203F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86150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1E50"/>
                </a:solidFill>
              </a:defRPr>
            </a:pPr>
            <a:r>
              <a:rPr sz="1200" b="0">
                <a:solidFill>
                  <a:srgbClr val="001E50"/>
                </a:solidFill>
              </a:rPr>
              <a:t>Biblioteca de treinamentos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3A177D-0A8B-4856-A063-AD078713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0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D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39F16D-2E52-41D6-AB41-53823BA7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9097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AF23AA-6432-44C9-8AF1-4AA66F794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52875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1E50"/>
                </a:solidFill>
              </a:defRPr>
            </a:pPr>
            <a:r>
              <a:rPr sz="1200" b="0">
                <a:solidFill>
                  <a:srgbClr val="001E50"/>
                </a:solidFill>
              </a:rPr>
              <a:t>Minha Frota e Catálogo Técnico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AD543F-751B-4635-9382-ED13D196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D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2475F4-CADA-4DD7-BBDB-2B54EAEC8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317E39-9BF1-4589-A066-40D68CC7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19600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1E50"/>
                </a:solidFill>
              </a:defRPr>
            </a:pPr>
            <a:r>
              <a:rPr sz="1200" b="0">
                <a:solidFill>
                  <a:srgbClr val="001E50"/>
                </a:solidFill>
              </a:rPr>
              <a:t>Assistente local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1CC51C-D27F-41CF-94E7-9A4131C5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43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D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823221-7A51-41B6-A864-09542760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244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04535F-20F1-4F2C-A776-334B71C2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86325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1E50"/>
                </a:solidFill>
              </a:defRPr>
            </a:pPr>
            <a:r>
              <a:rPr sz="1200" b="0">
                <a:solidFill>
                  <a:srgbClr val="001E50"/>
                </a:solidFill>
              </a:rPr>
              <a:t>Acesso por perfis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1A3854-71F8-4CA2-B017-352351A5B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33600"/>
            <a:ext cx="3429000" cy="35433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007D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B8551A-F6CE-4A1C-977E-D38454B2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00300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PRO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E6D6E3-B066-4052-BBC4-BEB9BE26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19400"/>
            <a:ext cx="289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BE6F5"/>
                </a:solidFill>
              </a:defRPr>
            </a:pPr>
            <a:r>
              <a:rPr sz="1275" b="1">
                <a:solidFill>
                  <a:srgbClr val="CBE6F5"/>
                </a:solidFill>
              </a:rPr>
              <a:t>Operar e analisar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5D2507-ACB3-4621-8831-41B4916C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38500"/>
            <a:ext cx="2895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A37625-4C02-48E6-8AF1-1053BEAA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433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71FA6F-0571-462F-9192-EBB1186E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242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1E50"/>
                </a:solidFill>
              </a:defRPr>
            </a:pPr>
            <a:r>
              <a:rPr sz="825" b="1">
                <a:solidFill>
                  <a:srgbClr val="001E50"/>
                </a:solidFill>
              </a:rPr>
              <a:t>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6A63A6-CEE5-4D04-B7A3-E749A703B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86150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Tudo do Básico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F228D7-CD5F-40D2-9741-2F407DC7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10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15E9BB-77CC-451B-99B0-D4EE6CB0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9097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1E50"/>
                </a:solidFill>
              </a:defRPr>
            </a:pPr>
            <a:r>
              <a:rPr sz="825" b="1">
                <a:solidFill>
                  <a:srgbClr val="001E50"/>
                </a:solidFill>
              </a:rPr>
              <a:t>✓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107A1B-517B-48D8-8F38-5D05B1DF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52875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Assistente híbrido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AA609C-8F66-43BF-A82A-38092BA4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76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F72846-92E8-434D-BC1D-FED1A8A80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577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1E50"/>
                </a:solidFill>
              </a:defRPr>
            </a:pPr>
            <a:r>
              <a:rPr sz="825" b="1">
                <a:solidFill>
                  <a:srgbClr val="001E50"/>
                </a:solidFill>
              </a:rPr>
              <a:t>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28464B-9D9B-4A59-ADA4-B13F1C0E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19600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Comparação multimarcas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4E7984-B001-42F2-8224-0E87E75B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943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26BE49A-3776-466B-B129-E880159A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9244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1E50"/>
                </a:solidFill>
              </a:defRPr>
            </a:pPr>
            <a:r>
              <a:rPr sz="825" b="1">
                <a:solidFill>
                  <a:srgbClr val="001E50"/>
                </a:solidFill>
              </a:rPr>
              <a:t>✓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D45538-43E8-4C7A-9C5C-FE44EBDB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86325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Service Desk e indicadores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6992E0-BB4D-4B6E-8789-D1E54371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33600"/>
            <a:ext cx="3429000" cy="35433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001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A78EA17-0A90-40C9-AA0C-5B189357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00300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PREMIUM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88AFA9A-F210-4119-87FD-ADA169EB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19400"/>
            <a:ext cx="289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BE6F5"/>
                </a:solidFill>
              </a:defRPr>
            </a:pPr>
            <a:r>
              <a:rPr sz="1275" b="1">
                <a:solidFill>
                  <a:srgbClr val="CBE6F5"/>
                </a:solidFill>
              </a:rPr>
              <a:t>Integrar e escalar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5338A5A-700E-4925-BCD2-122A8BF4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38500"/>
            <a:ext cx="2895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A250C48-DAB7-4668-B265-B6C504BC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433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242E627-47EB-4F73-841C-7A347A5A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242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1E50"/>
                </a:solidFill>
              </a:defRPr>
            </a:pPr>
            <a:r>
              <a:rPr sz="825" b="1">
                <a:solidFill>
                  <a:srgbClr val="001E50"/>
                </a:solidFill>
              </a:rPr>
              <a:t>✓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DF38CCE-712D-48F1-BB35-57950267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86150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Tudo do Pro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FC15BEC-83C8-4F39-A151-CBF0529C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10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0CF968A-158E-40C9-BA46-F39C7F96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9097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1E50"/>
                </a:solidFill>
              </a:defRPr>
            </a:pPr>
            <a:r>
              <a:rPr sz="825" b="1">
                <a:solidFill>
                  <a:srgbClr val="001E50"/>
                </a:solidFill>
              </a:rPr>
              <a:t>✓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6E71A0B-665C-45E9-A885-6076BC3D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52875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IA avançada por texto e voz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D89F2C1-6D73-438E-A681-65A0F9B6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76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C075C29-1125-41CF-968A-AC1D0E6B4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577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1E50"/>
                </a:solidFill>
              </a:defRPr>
            </a:pPr>
            <a:r>
              <a:rPr sz="825" b="1">
                <a:solidFill>
                  <a:srgbClr val="001E50"/>
                </a:solidFill>
              </a:rPr>
              <a:t>✓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CAC366D-9DA8-4A32-8F48-904A9F57A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19600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Limites e governança por empresa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2CE88CB-534E-498F-B20E-0040D3E1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43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4C0E4C6-8875-4B2B-B25A-4D65D6EF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244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1E50"/>
                </a:solidFill>
              </a:defRPr>
            </a:pPr>
            <a:r>
              <a:rPr sz="825" b="1">
                <a:solidFill>
                  <a:srgbClr val="001E50"/>
                </a:solidFill>
              </a:rPr>
              <a:t>✓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AE28D10-2F26-4454-B923-E7E1D16F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86325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Integrações e inteligência dedicada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522624B-AAFB-485D-9122-747861D2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953125"/>
            <a:ext cx="895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B7C90"/>
                </a:solidFill>
              </a:defRPr>
            </a:pPr>
            <a:r>
              <a:rPr sz="1125" b="0">
                <a:solidFill>
                  <a:srgbClr val="6B7C90"/>
                </a:solidFill>
              </a:rPr>
              <a:t>Preços e franquias são definidos após dimensionar usuários, volume de áudio, IA e integrações.</a:t>
            </a:r>
          </a:p>
        </p:txBody>
      </p:sp>
    </p:spTree>
    <p:extLst>
      <p:ext uri="{BB962C8B-B14F-4D97-AF65-F5344CB8AC3E}">
        <p14:creationId xmlns:p14="http://schemas.microsoft.com/office/powerpoint/2010/main" val="21347731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A44FA0-F333-4E35-B911-3CD3192C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DB8"/>
                </a:solidFill>
              </a:defRPr>
            </a:pPr>
            <a:r>
              <a:rPr sz="975" b="1">
                <a:solidFill>
                  <a:srgbClr val="007DB8"/>
                </a:solidFill>
              </a:rPr>
              <a:t>POR QUE ESTA SOLUÇÃO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3FF602-D973-4C23-87BB-2E438BD3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53C"/>
                </a:solidFill>
              </a:defRPr>
            </a:pPr>
            <a:r>
              <a:rPr sz="2850" b="1">
                <a:solidFill>
                  <a:srgbClr val="17253C"/>
                </a:solidFill>
              </a:rPr>
              <a:t>O diferencial não é o chat. É o contexto automotivo conectado.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27B8DB-D62F-4CE9-A211-23A46689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B7C90"/>
                </a:solidFill>
              </a:defRPr>
            </a:pPr>
            <a:r>
              <a:rPr sz="1500" b="0">
                <a:solidFill>
                  <a:srgbClr val="6B7C90"/>
                </a:solidFill>
              </a:rPr>
              <a:t>O Drive Learn nasce dentro da jornada de produto, frota e atendimento.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29A933-9536-4A08-B8D7-F1E6C717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C90"/>
                </a:solidFill>
              </a:defRPr>
            </a:pPr>
            <a:r>
              <a:rPr sz="825" b="1">
                <a:solidFill>
                  <a:srgbClr val="6B7C90"/>
                </a:solidFill>
              </a:rPr>
              <a:t>DRIVE LEARN · CONHECIMENTO QUE MOVE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002B58-9245-466B-BF6C-C128EC8D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C90"/>
                </a:solidFill>
              </a:defRPr>
            </a:pPr>
            <a:r>
              <a:rPr sz="900" b="1">
                <a:solidFill>
                  <a:srgbClr val="6B7C90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E7FCB9-F61B-4226-BBF2-38E74C34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64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B0F0"/>
                </a:solidFill>
              </a:defRPr>
            </a:pPr>
            <a:r>
              <a:rPr sz="2025" b="1">
                <a:solidFill>
                  <a:srgbClr val="00B0F0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409EDC-1A78-4D58-B036-207D5586C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2479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240BA6-4646-419C-A2B9-11EFD053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0574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1E50"/>
                </a:solidFill>
              </a:defRPr>
            </a:pPr>
            <a:r>
              <a:rPr sz="1575" b="1">
                <a:solidFill>
                  <a:srgbClr val="001E50"/>
                </a:solidFill>
              </a:rPr>
              <a:t>Veículo exato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449395-0E90-4EE7-B07F-8694DA49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047875"/>
            <a:ext cx="561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C90"/>
                </a:solidFill>
              </a:defRPr>
            </a:pPr>
            <a:r>
              <a:rPr sz="1275" b="0">
                <a:solidFill>
                  <a:srgbClr val="6B7C90"/>
                </a:solidFill>
              </a:rPr>
              <a:t>Marca, família e modelo orientam conteúdo, consulta e relato.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2343E2-1937-43D5-97A2-C4B550BF9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76550"/>
            <a:ext cx="64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B0F0"/>
                </a:solidFill>
              </a:defRPr>
            </a:pPr>
            <a:r>
              <a:rPr sz="2025" b="1">
                <a:solidFill>
                  <a:srgbClr val="00B0F0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F8B110-E071-4696-8790-DBAF7424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480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E25737-99F3-4D21-A413-D4D45E41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857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1E50"/>
                </a:solidFill>
              </a:defRPr>
            </a:pPr>
            <a:r>
              <a:rPr sz="1575" b="1">
                <a:solidFill>
                  <a:srgbClr val="001E50"/>
                </a:solidFill>
              </a:rPr>
              <a:t>Ciclo fechado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FBA8FC-8D8E-410C-BEBE-A61D28A16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847975"/>
            <a:ext cx="561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C90"/>
                </a:solidFill>
              </a:defRPr>
            </a:pPr>
            <a:r>
              <a:rPr sz="1275" b="0">
                <a:solidFill>
                  <a:srgbClr val="6B7C90"/>
                </a:solidFill>
              </a:rPr>
              <a:t>Treinamento, uso, falha, solução e satisfação permanecem conectados.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31F74D-8C23-4B45-9880-9B8BAD7E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64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B0F0"/>
                </a:solidFill>
              </a:defRPr>
            </a:pPr>
            <a:r>
              <a:rPr sz="2025" b="1">
                <a:solidFill>
                  <a:srgbClr val="00B0F0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113793-3EDA-4201-8C1F-434FCE2F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8481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50400E-32F3-4535-B2F3-126E2AA7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576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1E50"/>
                </a:solidFill>
              </a:defRPr>
            </a:pPr>
            <a:r>
              <a:rPr sz="1575" b="1">
                <a:solidFill>
                  <a:srgbClr val="001E50"/>
                </a:solidFill>
              </a:rPr>
              <a:t>Multimarcas com DNA VWCO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6013FB-103B-4A13-9CC0-CF75DF1E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648075"/>
            <a:ext cx="561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C90"/>
                </a:solidFill>
              </a:defRPr>
            </a:pPr>
            <a:r>
              <a:rPr sz="1275" b="0">
                <a:solidFill>
                  <a:srgbClr val="6B7C90"/>
                </a:solidFill>
              </a:rPr>
              <a:t>Compara concorrentes sem perder a proximidade com a marca.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E64852-18FB-4C06-A2D2-80B2E465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64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B0F0"/>
                </a:solidFill>
              </a:defRPr>
            </a:pPr>
            <a:r>
              <a:rPr sz="2025" b="1">
                <a:solidFill>
                  <a:srgbClr val="00B0F0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488838-66EE-4836-A32D-5A9FD422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6482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DE3734-C346-4539-B2D4-FEB7D674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4577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1E50"/>
                </a:solidFill>
              </a:defRPr>
            </a:pPr>
            <a:r>
              <a:rPr sz="1575" b="1">
                <a:solidFill>
                  <a:srgbClr val="001E50"/>
                </a:solidFill>
              </a:rPr>
              <a:t>IA economicamente progressiva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F1873D-621E-40D3-9A7E-F4AE8F26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448175"/>
            <a:ext cx="561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C90"/>
                </a:solidFill>
              </a:defRPr>
            </a:pPr>
            <a:r>
              <a:rPr sz="1275" b="0">
                <a:solidFill>
                  <a:srgbClr val="6B7C90"/>
                </a:solidFill>
              </a:rPr>
              <a:t>Opera localmente, reutiliza conhecimento e escala para IA.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6E4B83-1EA0-4268-81AD-B968C30FA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76850"/>
            <a:ext cx="64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B0F0"/>
                </a:solidFill>
              </a:defRPr>
            </a:pPr>
            <a:r>
              <a:rPr sz="2025" b="1">
                <a:solidFill>
                  <a:srgbClr val="00B0F0"/>
                </a:solidFill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046A7E-0E1B-4471-8259-6145933CC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4483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4B5799-A654-45FB-993F-6E2C556F3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2578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1E50"/>
                </a:solidFill>
              </a:defRPr>
            </a:pPr>
            <a:r>
              <a:rPr sz="1575" b="1">
                <a:solidFill>
                  <a:srgbClr val="001E50"/>
                </a:solidFill>
              </a:rPr>
              <a:t>Governança corporativa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8B7A41-CDE0-4F15-A4ED-E0ADB26B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248275"/>
            <a:ext cx="561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C90"/>
                </a:solidFill>
              </a:defRPr>
            </a:pPr>
            <a:r>
              <a:rPr sz="1275" b="0">
                <a:solidFill>
                  <a:srgbClr val="6B7C90"/>
                </a:solidFill>
              </a:rPr>
              <a:t>Perfis, empresas, escopos, setores, responsáveis, SLA e histórico.</a:t>
            </a:r>
          </a:p>
        </p:txBody>
      </p:sp>
    </p:spTree>
    <p:extLst>
      <p:ext uri="{BB962C8B-B14F-4D97-AF65-F5344CB8AC3E}">
        <p14:creationId xmlns:p14="http://schemas.microsoft.com/office/powerpoint/2010/main" val="1377702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01E5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BB363E-7A80-4BFA-82A7-8E1BDCCF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0F0"/>
                </a:solidFill>
              </a:defRPr>
            </a:pPr>
            <a:r>
              <a:rPr sz="975" b="1">
                <a:solidFill>
                  <a:srgbClr val="00B0F0"/>
                </a:solidFill>
              </a:rPr>
              <a:t>PRÓXIMO PASSO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8B6800-B005-4F01-9DD8-2DC841C0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6667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Validar valor em campo.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Escalar com evidência.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5AB125-E286-4D3D-B95F-943C10BF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0"/>
            <a:ext cx="628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8DCEE"/>
                </a:solidFill>
              </a:defRPr>
            </a:pPr>
            <a:r>
              <a:rPr sz="1575" b="0">
                <a:solidFill>
                  <a:srgbClr val="C8DCEE"/>
                </a:solidFill>
              </a:rPr>
              <a:t>Um piloto controlado conecta usuários reais, veículos reais e problemas reais — com métricas desde o primeiro dia.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62D000-9824-4F49-A546-23888A1D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290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5F83FB-B7C7-4E7B-9EBC-B9A8737DD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290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1E50"/>
                </a:solidFill>
              </a:defRPr>
            </a:pPr>
            <a:r>
              <a:rPr sz="1350" b="1">
                <a:solidFill>
                  <a:srgbClr val="001E50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798CCD-1953-4A21-8BAD-3D184223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386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Selecionar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B965BC-260F-4EDA-9F70-07A62F6F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0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C8DF"/>
                </a:solidFill>
              </a:defRPr>
            </a:pPr>
            <a:r>
              <a:rPr sz="1125" b="0">
                <a:solidFill>
                  <a:srgbClr val="A9C8DF"/>
                </a:solidFill>
              </a:rPr>
              <a:t>cliente, frota e concessionária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680CC8-7886-456C-B503-9EF53BDC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8290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5FAF46-1988-47F7-8B61-D392FC99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8290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1E50"/>
                </a:solidFill>
              </a:defRPr>
            </a:pPr>
            <a:r>
              <a:rPr sz="1350" b="1">
                <a:solidFill>
                  <a:srgbClr val="001E50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2BB170-F5E5-4BB9-BD40-02E244E4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4386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Ativar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C8080A-89FB-497C-B160-3E34772AD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762500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C8DF"/>
                </a:solidFill>
              </a:defRPr>
            </a:pPr>
            <a:r>
              <a:rPr sz="1125" b="0">
                <a:solidFill>
                  <a:srgbClr val="A9C8DF"/>
                </a:solidFill>
              </a:rPr>
              <a:t>conteúdos, assistente e reports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DF67C8-FF6A-4626-ACEE-5CCCF11C7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8290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A2F8AA-80A5-48F8-A1BC-CDB79AEA5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8290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1E50"/>
                </a:solidFill>
              </a:defRPr>
            </a:pPr>
            <a:r>
              <a:rPr sz="1350" b="1">
                <a:solidFill>
                  <a:srgbClr val="001E50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80652B-2D63-4F78-BBED-3FA256E49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386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Medir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90C9A8-5D96-41B7-AACC-1130AEB7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762500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C8DF"/>
                </a:solidFill>
              </a:defRPr>
            </a:pPr>
            <a:r>
              <a:rPr sz="1125" b="0">
                <a:solidFill>
                  <a:srgbClr val="A9C8DF"/>
                </a:solidFill>
              </a:rPr>
              <a:t>adoção, consultas, SLA e satisfação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CA0985-6AEE-41A2-B9D7-A4EF389C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914400"/>
            <a:ext cx="3714750" cy="476250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528d64434b4d36"/>
          <a:stretch xmlns:a="http://schemas.openxmlformats.org/drawingml/2006/main"/>
        </p:blipFill>
        <p:spPr>
          <a:xfrm xmlns:a="http://schemas.openxmlformats.org/drawingml/2006/main">
            <a:off x="8096250" y="1282970"/>
            <a:ext cx="3143250" cy="225371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8D86D6-B3C9-4100-A348-24E7E6FA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8620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01E50"/>
                </a:solidFill>
              </a:defRPr>
            </a:pPr>
            <a:r>
              <a:rPr sz="2325" b="1">
                <a:solidFill>
                  <a:srgbClr val="001E50"/>
                </a:solidFill>
              </a:rPr>
              <a:t>Drive Learn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97CB6F-2F5B-4117-9B3E-9A776351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38650"/>
            <a:ext cx="2724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7DB8"/>
                </a:solidFill>
              </a:defRPr>
            </a:pPr>
            <a:r>
              <a:rPr sz="1725" b="1">
                <a:solidFill>
                  <a:srgbClr val="007DB8"/>
                </a:solidFill>
              </a:rPr>
              <a:t>Mais proximidade.</a:t>
            </a:r>
          </a:p>
          <a:p xmlns:a="http://schemas.openxmlformats.org/drawingml/2006/main">
            <a:pPr algn="ctr">
              <a:defRPr sz="1725" b="1">
                <a:solidFill>
                  <a:srgbClr val="007DB8"/>
                </a:solidFill>
              </a:defRPr>
            </a:pPr>
            <a:r>
              <a:rPr sz="1725" b="1">
                <a:solidFill>
                  <a:srgbClr val="007DB8"/>
                </a:solidFill>
              </a:rPr>
              <a:t>Mais conhecimento.</a:t>
            </a:r>
          </a:p>
          <a:p xmlns:a="http://schemas.openxmlformats.org/drawingml/2006/main">
            <a:pPr algn="ctr">
              <a:defRPr sz="1725" b="1">
                <a:solidFill>
                  <a:srgbClr val="007DB8"/>
                </a:solidFill>
              </a:defRPr>
            </a:pPr>
            <a:r>
              <a:rPr sz="1725" b="1">
                <a:solidFill>
                  <a:srgbClr val="007DB8"/>
                </a:solidFill>
              </a:rPr>
              <a:t>Melhores produtos.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3081EB-AB98-41B3-A42E-FB9720A7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B0F0"/>
                </a:solidFill>
              </a:defRPr>
            </a:pPr>
            <a:r>
              <a:rPr sz="1800" b="1">
                <a:solidFill>
                  <a:srgbClr val="00B0F0"/>
                </a:solidFill>
              </a:rPr>
              <a:t>A decisão agora é transformar a visão em piloto.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077A8C-10B6-43A2-9C67-554124FA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9C8DF"/>
                </a:solidFill>
              </a:defRPr>
            </a:pPr>
            <a:r>
              <a:rPr sz="825" b="1">
                <a:solidFill>
                  <a:srgbClr val="A9C8DF"/>
                </a:solidFill>
              </a:rPr>
              <a:t>DRIVE LEARN · CONHECIMENTO QUE MOVE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024484-E42C-4EBF-985E-16974690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C8DF"/>
                </a:solidFill>
              </a:defRPr>
            </a:pPr>
            <a:r>
              <a:rPr sz="900" b="1">
                <a:solidFill>
                  <a:srgbClr val="A9C8DF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880295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2026-07-29T06:46:15.7160000Z</dcterms:created>
  <dcterms:modified xsi:type="dcterms:W3CDTF">2026-07-29T06:46:15.7160000Z</dcterms:modified>
</coreProperties>
</file>